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261" r:id="rId2"/>
    <p:sldId id="262" r:id="rId3"/>
    <p:sldId id="299" r:id="rId4"/>
    <p:sldId id="279" r:id="rId5"/>
    <p:sldId id="270" r:id="rId6"/>
    <p:sldId id="282" r:id="rId7"/>
    <p:sldId id="281" r:id="rId8"/>
    <p:sldId id="265" r:id="rId9"/>
    <p:sldId id="271" r:id="rId10"/>
    <p:sldId id="266" r:id="rId11"/>
    <p:sldId id="272" r:id="rId12"/>
    <p:sldId id="264" r:id="rId13"/>
    <p:sldId id="273" r:id="rId14"/>
    <p:sldId id="300" r:id="rId15"/>
    <p:sldId id="256" r:id="rId16"/>
    <p:sldId id="257" r:id="rId17"/>
    <p:sldId id="258" r:id="rId18"/>
    <p:sldId id="259" r:id="rId19"/>
    <p:sldId id="260" r:id="rId20"/>
    <p:sldId id="302" r:id="rId21"/>
    <p:sldId id="303" r:id="rId22"/>
    <p:sldId id="263" r:id="rId23"/>
    <p:sldId id="304" r:id="rId24"/>
    <p:sldId id="305" r:id="rId25"/>
    <p:sldId id="306" r:id="rId26"/>
    <p:sldId id="267" r:id="rId27"/>
    <p:sldId id="268" r:id="rId28"/>
    <p:sldId id="269" r:id="rId29"/>
    <p:sldId id="307" r:id="rId30"/>
    <p:sldId id="308" r:id="rId31"/>
    <p:sldId id="309" r:id="rId32"/>
    <p:sldId id="31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2"/>
    <p:restoredTop sz="94726"/>
  </p:normalViewPr>
  <p:slideViewPr>
    <p:cSldViewPr snapToGrid="0" showGuides="1">
      <p:cViewPr varScale="1">
        <p:scale>
          <a:sx n="120" d="100"/>
          <a:sy n="120" d="100"/>
        </p:scale>
        <p:origin x="824" y="184"/>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627E33-A907-2745-AAD4-C0BCA79F5D7A}" type="datetimeFigureOut">
              <a:rPr lang="en-US" smtClean="0"/>
              <a:t>4/15/25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906A7-9360-CB42-B53F-26420665FCA3}" type="slidenum">
              <a:rPr lang="en-US" smtClean="0"/>
              <a:t>‹#›</a:t>
            </a:fld>
            <a:endParaRPr lang="en-US"/>
          </a:p>
        </p:txBody>
      </p:sp>
    </p:spTree>
    <p:extLst>
      <p:ext uri="{BB962C8B-B14F-4D97-AF65-F5344CB8AC3E}">
        <p14:creationId xmlns:p14="http://schemas.microsoft.com/office/powerpoint/2010/main" val="3628665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8267597cc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8267597c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DBE4ED"/>
        </a:solid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7282833" y="1452867"/>
            <a:ext cx="4679067" cy="5303532"/>
          </a:xfrm>
          <a:prstGeom prst="rect">
            <a:avLst/>
          </a:prstGeom>
          <a:noFill/>
          <a:ln>
            <a:noFill/>
          </a:ln>
        </p:spPr>
      </p:pic>
      <p:sp>
        <p:nvSpPr>
          <p:cNvPr id="11" name="Google Shape;11;p2"/>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 name="Google Shape;12;p2"/>
          <p:cNvGrpSpPr/>
          <p:nvPr/>
        </p:nvGrpSpPr>
        <p:grpSpPr>
          <a:xfrm>
            <a:off x="1107190" y="1588342"/>
            <a:ext cx="994351" cy="61101"/>
            <a:chOff x="4580561" y="2589004"/>
            <a:chExt cx="1064464" cy="25200"/>
          </a:xfrm>
        </p:grpSpPr>
        <p:sp>
          <p:nvSpPr>
            <p:cNvPr id="13" name="Google Shape;13;p2"/>
            <p:cNvSpPr/>
            <p:nvPr/>
          </p:nvSpPr>
          <p:spPr>
            <a:xfrm rot="-5400000">
              <a:off x="5366325" y="2335504"/>
              <a:ext cx="25200" cy="532200"/>
            </a:xfrm>
            <a:prstGeom prst="rect">
              <a:avLst/>
            </a:prstGeom>
            <a:solidFill>
              <a:srgbClr val="3646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rot="-5400000">
              <a:off x="4836311" y="2333254"/>
              <a:ext cx="25200" cy="536700"/>
            </a:xfrm>
            <a:prstGeom prst="rect">
              <a:avLst/>
            </a:prstGeom>
            <a:solidFill>
              <a:srgbClr val="67B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 name="Google Shape;15;p2"/>
          <p:cNvSpPr txBox="1">
            <a:spLocks noGrp="1"/>
          </p:cNvSpPr>
          <p:nvPr>
            <p:ph type="ctrTitle"/>
          </p:nvPr>
        </p:nvSpPr>
        <p:spPr>
          <a:xfrm>
            <a:off x="972600" y="1763267"/>
            <a:ext cx="10250800" cy="2219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5600">
                <a:solidFill>
                  <a:schemeClr val="dk2"/>
                </a:solidFill>
              </a:defRPr>
            </a:lvl1pPr>
            <a:lvl2pPr lvl="1">
              <a:spcBef>
                <a:spcPts val="0"/>
              </a:spcBef>
              <a:spcAft>
                <a:spcPts val="0"/>
              </a:spcAft>
              <a:buClr>
                <a:schemeClr val="dk2"/>
              </a:buClr>
              <a:buSzPts val="4200"/>
              <a:buNone/>
              <a:defRPr sz="5600">
                <a:solidFill>
                  <a:schemeClr val="dk2"/>
                </a:solidFill>
              </a:defRPr>
            </a:lvl2pPr>
            <a:lvl3pPr lvl="2">
              <a:spcBef>
                <a:spcPts val="0"/>
              </a:spcBef>
              <a:spcAft>
                <a:spcPts val="0"/>
              </a:spcAft>
              <a:buClr>
                <a:schemeClr val="dk2"/>
              </a:buClr>
              <a:buSzPts val="4200"/>
              <a:buNone/>
              <a:defRPr sz="5600">
                <a:solidFill>
                  <a:schemeClr val="dk2"/>
                </a:solidFill>
              </a:defRPr>
            </a:lvl3pPr>
            <a:lvl4pPr lvl="3">
              <a:spcBef>
                <a:spcPts val="0"/>
              </a:spcBef>
              <a:spcAft>
                <a:spcPts val="0"/>
              </a:spcAft>
              <a:buClr>
                <a:schemeClr val="dk2"/>
              </a:buClr>
              <a:buSzPts val="4200"/>
              <a:buNone/>
              <a:defRPr sz="5600">
                <a:solidFill>
                  <a:schemeClr val="dk2"/>
                </a:solidFill>
              </a:defRPr>
            </a:lvl4pPr>
            <a:lvl5pPr lvl="4">
              <a:spcBef>
                <a:spcPts val="0"/>
              </a:spcBef>
              <a:spcAft>
                <a:spcPts val="0"/>
              </a:spcAft>
              <a:buClr>
                <a:schemeClr val="dk2"/>
              </a:buClr>
              <a:buSzPts val="4200"/>
              <a:buNone/>
              <a:defRPr sz="5600">
                <a:solidFill>
                  <a:schemeClr val="dk2"/>
                </a:solidFill>
              </a:defRPr>
            </a:lvl5pPr>
            <a:lvl6pPr lvl="5">
              <a:spcBef>
                <a:spcPts val="0"/>
              </a:spcBef>
              <a:spcAft>
                <a:spcPts val="0"/>
              </a:spcAft>
              <a:buClr>
                <a:schemeClr val="dk2"/>
              </a:buClr>
              <a:buSzPts val="4200"/>
              <a:buNone/>
              <a:defRPr sz="5600">
                <a:solidFill>
                  <a:schemeClr val="dk2"/>
                </a:solidFill>
              </a:defRPr>
            </a:lvl6pPr>
            <a:lvl7pPr lvl="6">
              <a:spcBef>
                <a:spcPts val="0"/>
              </a:spcBef>
              <a:spcAft>
                <a:spcPts val="0"/>
              </a:spcAft>
              <a:buClr>
                <a:schemeClr val="dk2"/>
              </a:buClr>
              <a:buSzPts val="4200"/>
              <a:buNone/>
              <a:defRPr sz="5600">
                <a:solidFill>
                  <a:schemeClr val="dk2"/>
                </a:solidFill>
              </a:defRPr>
            </a:lvl7pPr>
            <a:lvl8pPr lvl="7">
              <a:spcBef>
                <a:spcPts val="0"/>
              </a:spcBef>
              <a:spcAft>
                <a:spcPts val="0"/>
              </a:spcAft>
              <a:buClr>
                <a:schemeClr val="dk2"/>
              </a:buClr>
              <a:buSzPts val="4200"/>
              <a:buNone/>
              <a:defRPr sz="5600">
                <a:solidFill>
                  <a:schemeClr val="dk2"/>
                </a:solidFill>
              </a:defRPr>
            </a:lvl8pPr>
            <a:lvl9pPr lvl="8">
              <a:spcBef>
                <a:spcPts val="0"/>
              </a:spcBef>
              <a:spcAft>
                <a:spcPts val="0"/>
              </a:spcAft>
              <a:buClr>
                <a:schemeClr val="dk2"/>
              </a:buClr>
              <a:buSzPts val="4200"/>
              <a:buNone/>
              <a:defRPr sz="5600">
                <a:solidFill>
                  <a:schemeClr val="dk2"/>
                </a:solidFill>
              </a:defRPr>
            </a:lvl9pPr>
          </a:lstStyle>
          <a:p>
            <a:endParaRPr/>
          </a:p>
        </p:txBody>
      </p:sp>
      <p:sp>
        <p:nvSpPr>
          <p:cNvPr id="16" name="Google Shape;16;p2"/>
          <p:cNvSpPr txBox="1">
            <a:spLocks noGrp="1"/>
          </p:cNvSpPr>
          <p:nvPr>
            <p:ph type="subTitle" idx="1"/>
          </p:nvPr>
        </p:nvSpPr>
        <p:spPr>
          <a:xfrm>
            <a:off x="972836" y="4230533"/>
            <a:ext cx="10250800" cy="721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36465A"/>
              </a:buClr>
              <a:buSzPts val="1600"/>
              <a:buNone/>
              <a:defRPr sz="2133">
                <a:solidFill>
                  <a:srgbClr val="36465A"/>
                </a:solidFill>
              </a:defRPr>
            </a:lvl1pPr>
            <a:lvl2pPr lvl="1">
              <a:lnSpc>
                <a:spcPct val="100000"/>
              </a:lnSpc>
              <a:spcBef>
                <a:spcPts val="0"/>
              </a:spcBef>
              <a:spcAft>
                <a:spcPts val="0"/>
              </a:spcAft>
              <a:buClr>
                <a:srgbClr val="36465A"/>
              </a:buClr>
              <a:buSzPts val="1600"/>
              <a:buNone/>
              <a:defRPr sz="2133">
                <a:solidFill>
                  <a:srgbClr val="36465A"/>
                </a:solidFill>
              </a:defRPr>
            </a:lvl2pPr>
            <a:lvl3pPr lvl="2">
              <a:lnSpc>
                <a:spcPct val="100000"/>
              </a:lnSpc>
              <a:spcBef>
                <a:spcPts val="0"/>
              </a:spcBef>
              <a:spcAft>
                <a:spcPts val="0"/>
              </a:spcAft>
              <a:buClr>
                <a:srgbClr val="36465A"/>
              </a:buClr>
              <a:buSzPts val="1600"/>
              <a:buNone/>
              <a:defRPr sz="2133">
                <a:solidFill>
                  <a:srgbClr val="36465A"/>
                </a:solidFill>
              </a:defRPr>
            </a:lvl3pPr>
            <a:lvl4pPr lvl="3">
              <a:lnSpc>
                <a:spcPct val="100000"/>
              </a:lnSpc>
              <a:spcBef>
                <a:spcPts val="0"/>
              </a:spcBef>
              <a:spcAft>
                <a:spcPts val="0"/>
              </a:spcAft>
              <a:buClr>
                <a:srgbClr val="36465A"/>
              </a:buClr>
              <a:buSzPts val="1600"/>
              <a:buNone/>
              <a:defRPr sz="2133">
                <a:solidFill>
                  <a:srgbClr val="36465A"/>
                </a:solidFill>
              </a:defRPr>
            </a:lvl4pPr>
            <a:lvl5pPr lvl="4">
              <a:lnSpc>
                <a:spcPct val="100000"/>
              </a:lnSpc>
              <a:spcBef>
                <a:spcPts val="0"/>
              </a:spcBef>
              <a:spcAft>
                <a:spcPts val="0"/>
              </a:spcAft>
              <a:buClr>
                <a:srgbClr val="36465A"/>
              </a:buClr>
              <a:buSzPts val="1600"/>
              <a:buNone/>
              <a:defRPr sz="2133">
                <a:solidFill>
                  <a:srgbClr val="36465A"/>
                </a:solidFill>
              </a:defRPr>
            </a:lvl5pPr>
            <a:lvl6pPr lvl="5">
              <a:lnSpc>
                <a:spcPct val="100000"/>
              </a:lnSpc>
              <a:spcBef>
                <a:spcPts val="0"/>
              </a:spcBef>
              <a:spcAft>
                <a:spcPts val="0"/>
              </a:spcAft>
              <a:buClr>
                <a:srgbClr val="36465A"/>
              </a:buClr>
              <a:buSzPts val="1600"/>
              <a:buNone/>
              <a:defRPr sz="2133">
                <a:solidFill>
                  <a:srgbClr val="36465A"/>
                </a:solidFill>
              </a:defRPr>
            </a:lvl6pPr>
            <a:lvl7pPr lvl="6">
              <a:lnSpc>
                <a:spcPct val="100000"/>
              </a:lnSpc>
              <a:spcBef>
                <a:spcPts val="0"/>
              </a:spcBef>
              <a:spcAft>
                <a:spcPts val="0"/>
              </a:spcAft>
              <a:buClr>
                <a:srgbClr val="36465A"/>
              </a:buClr>
              <a:buSzPts val="1600"/>
              <a:buNone/>
              <a:defRPr sz="2133">
                <a:solidFill>
                  <a:srgbClr val="36465A"/>
                </a:solidFill>
              </a:defRPr>
            </a:lvl7pPr>
            <a:lvl8pPr lvl="7">
              <a:lnSpc>
                <a:spcPct val="100000"/>
              </a:lnSpc>
              <a:spcBef>
                <a:spcPts val="0"/>
              </a:spcBef>
              <a:spcAft>
                <a:spcPts val="0"/>
              </a:spcAft>
              <a:buClr>
                <a:srgbClr val="36465A"/>
              </a:buClr>
              <a:buSzPts val="1600"/>
              <a:buNone/>
              <a:defRPr sz="2133">
                <a:solidFill>
                  <a:srgbClr val="36465A"/>
                </a:solidFill>
              </a:defRPr>
            </a:lvl8pPr>
            <a:lvl9pPr lvl="8">
              <a:lnSpc>
                <a:spcPct val="100000"/>
              </a:lnSpc>
              <a:spcBef>
                <a:spcPts val="0"/>
              </a:spcBef>
              <a:spcAft>
                <a:spcPts val="0"/>
              </a:spcAft>
              <a:buClr>
                <a:srgbClr val="36465A"/>
              </a:buClr>
              <a:buSzPts val="1600"/>
              <a:buNone/>
              <a:defRPr sz="2133">
                <a:solidFill>
                  <a:srgbClr val="36465A"/>
                </a:solidFill>
              </a:defRPr>
            </a:lvl9pPr>
          </a:lstStyle>
          <a:p>
            <a:endParaRPr/>
          </a:p>
        </p:txBody>
      </p:sp>
      <p:sp>
        <p:nvSpPr>
          <p:cNvPr id="17" name="Google Shape;17;p2"/>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
        <p:nvSpPr>
          <p:cNvPr id="18" name="Google Shape;18;p2"/>
          <p:cNvSpPr txBox="1"/>
          <p:nvPr/>
        </p:nvSpPr>
        <p:spPr>
          <a:xfrm>
            <a:off x="302067" y="104667"/>
            <a:ext cx="1330800" cy="4292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GB" sz="800">
                <a:latin typeface="Raleway"/>
                <a:ea typeface="Raleway"/>
                <a:cs typeface="Raleway"/>
                <a:sym typeface="Raleway"/>
              </a:rPr>
              <a:t>Confidential</a:t>
            </a:r>
            <a:endParaRPr sz="800" b="1">
              <a:latin typeface="Raleway"/>
              <a:ea typeface="Raleway"/>
              <a:cs typeface="Raleway"/>
              <a:sym typeface="Raleway"/>
            </a:endParaRPr>
          </a:p>
        </p:txBody>
      </p:sp>
      <p:sp>
        <p:nvSpPr>
          <p:cNvPr id="19" name="Google Shape;19;p2"/>
          <p:cNvSpPr txBox="1"/>
          <p:nvPr/>
        </p:nvSpPr>
        <p:spPr>
          <a:xfrm>
            <a:off x="9391829" y="104667"/>
            <a:ext cx="2501200" cy="429200"/>
          </a:xfrm>
          <a:prstGeom prst="rect">
            <a:avLst/>
          </a:prstGeom>
          <a:noFill/>
          <a:ln>
            <a:noFill/>
          </a:ln>
        </p:spPr>
        <p:txBody>
          <a:bodyPr spcFirstLastPara="1" wrap="square" lIns="121900" tIns="121900" rIns="121900" bIns="121900" anchor="ctr" anchorCtr="0">
            <a:noAutofit/>
          </a:bodyPr>
          <a:lstStyle/>
          <a:p>
            <a:pPr marL="0" lvl="0" indent="0" algn="r" rtl="0">
              <a:spcBef>
                <a:spcPts val="0"/>
              </a:spcBef>
              <a:spcAft>
                <a:spcPts val="0"/>
              </a:spcAft>
              <a:buNone/>
            </a:pPr>
            <a:r>
              <a:rPr lang="en-GB" sz="800">
                <a:latin typeface="Raleway"/>
                <a:ea typeface="Raleway"/>
                <a:cs typeface="Raleway"/>
                <a:sym typeface="Raleway"/>
              </a:rPr>
              <a:t>Version 1.0 | NIDDK IBDGC 2023 F2F Meeting</a:t>
            </a:r>
            <a:endParaRPr sz="800" b="1">
              <a:latin typeface="Raleway"/>
              <a:ea typeface="Raleway"/>
              <a:cs typeface="Raleway"/>
              <a:sym typeface="Raleway"/>
            </a:endParaRPr>
          </a:p>
        </p:txBody>
      </p:sp>
      <p:pic>
        <p:nvPicPr>
          <p:cNvPr id="20" name="Google Shape;20;p2"/>
          <p:cNvPicPr preferRelativeResize="0"/>
          <p:nvPr/>
        </p:nvPicPr>
        <p:blipFill>
          <a:blip r:embed="rId3">
            <a:alphaModFix/>
          </a:blip>
          <a:stretch>
            <a:fillRect/>
          </a:stretch>
        </p:blipFill>
        <p:spPr>
          <a:xfrm>
            <a:off x="330201" y="5909167"/>
            <a:ext cx="3179684" cy="650400"/>
          </a:xfrm>
          <a:prstGeom prst="rect">
            <a:avLst/>
          </a:prstGeom>
          <a:noFill/>
          <a:ln>
            <a:noFill/>
          </a:ln>
        </p:spPr>
      </p:pic>
    </p:spTree>
    <p:extLst>
      <p:ext uri="{BB962C8B-B14F-4D97-AF65-F5344CB8AC3E}">
        <p14:creationId xmlns:p14="http://schemas.microsoft.com/office/powerpoint/2010/main" val="3211286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4"/>
          <p:cNvSpPr/>
          <p:nvPr/>
        </p:nvSpPr>
        <p:spPr>
          <a:xfrm>
            <a:off x="0" y="0"/>
            <a:ext cx="12192000" cy="650400"/>
          </a:xfrm>
          <a:prstGeom prst="rect">
            <a:avLst/>
          </a:prstGeom>
          <a:solidFill>
            <a:srgbClr val="DBE4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9" name="Google Shape;29;p4"/>
          <p:cNvGrpSpPr/>
          <p:nvPr/>
        </p:nvGrpSpPr>
        <p:grpSpPr>
          <a:xfrm>
            <a:off x="1107190" y="1588342"/>
            <a:ext cx="994351" cy="61101"/>
            <a:chOff x="4580561" y="2589004"/>
            <a:chExt cx="1064464" cy="25200"/>
          </a:xfrm>
        </p:grpSpPr>
        <p:sp>
          <p:nvSpPr>
            <p:cNvPr id="30" name="Google Shape;30;p4"/>
            <p:cNvSpPr/>
            <p:nvPr/>
          </p:nvSpPr>
          <p:spPr>
            <a:xfrm rot="-5400000">
              <a:off x="5366325" y="2335504"/>
              <a:ext cx="25200" cy="532200"/>
            </a:xfrm>
            <a:prstGeom prst="rect">
              <a:avLst/>
            </a:prstGeom>
            <a:solidFill>
              <a:srgbClr val="3646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4"/>
            <p:cNvSpPr/>
            <p:nvPr/>
          </p:nvSpPr>
          <p:spPr>
            <a:xfrm rot="-5400000">
              <a:off x="4836311" y="2333254"/>
              <a:ext cx="25200" cy="536700"/>
            </a:xfrm>
            <a:prstGeom prst="rect">
              <a:avLst/>
            </a:prstGeom>
            <a:solidFill>
              <a:srgbClr val="67B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4"/>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3467">
                <a:solidFill>
                  <a:schemeClr val="dk2"/>
                </a:solidFill>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endParaRPr/>
          </a:p>
        </p:txBody>
      </p:sp>
      <p:sp>
        <p:nvSpPr>
          <p:cNvPr id="33" name="Google Shape;33;p4"/>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a:p>
        </p:txBody>
      </p:sp>
      <p:sp>
        <p:nvSpPr>
          <p:cNvPr id="34" name="Google Shape;34;p4"/>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
        <p:nvSpPr>
          <p:cNvPr id="35" name="Google Shape;35;p4">
            <a:hlinkClick r:id="" action="ppaction://noaction"/>
          </p:cNvPr>
          <p:cNvSpPr/>
          <p:nvPr/>
        </p:nvSpPr>
        <p:spPr>
          <a:xfrm>
            <a:off x="11040600" y="0"/>
            <a:ext cx="1151200" cy="605600"/>
          </a:xfrm>
          <a:prstGeom prst="rect">
            <a:avLst/>
          </a:prstGeom>
          <a:solidFill>
            <a:srgbClr val="DBE4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36" name="Google Shape;36;p4"/>
          <p:cNvPicPr preferRelativeResize="0"/>
          <p:nvPr/>
        </p:nvPicPr>
        <p:blipFill>
          <a:blip r:embed="rId2">
            <a:alphaModFix/>
          </a:blip>
          <a:stretch>
            <a:fillRect/>
          </a:stretch>
        </p:blipFill>
        <p:spPr>
          <a:xfrm>
            <a:off x="230234" y="6015567"/>
            <a:ext cx="666485" cy="605600"/>
          </a:xfrm>
          <a:prstGeom prst="rect">
            <a:avLst/>
          </a:prstGeom>
          <a:noFill/>
          <a:ln>
            <a:noFill/>
          </a:ln>
        </p:spPr>
      </p:pic>
    </p:spTree>
    <p:extLst>
      <p:ext uri="{BB962C8B-B14F-4D97-AF65-F5344CB8AC3E}">
        <p14:creationId xmlns:p14="http://schemas.microsoft.com/office/powerpoint/2010/main" val="1984121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ody only">
  <p:cSld name="Body only">
    <p:spTree>
      <p:nvGrpSpPr>
        <p:cNvPr id="1" name="Shape 37"/>
        <p:cNvGrpSpPr/>
        <p:nvPr/>
      </p:nvGrpSpPr>
      <p:grpSpPr>
        <a:xfrm>
          <a:off x="0" y="0"/>
          <a:ext cx="0" cy="0"/>
          <a:chOff x="0" y="0"/>
          <a:chExt cx="0" cy="0"/>
        </a:xfrm>
      </p:grpSpPr>
      <p:sp>
        <p:nvSpPr>
          <p:cNvPr id="38" name="Google Shape;38;p5"/>
          <p:cNvSpPr/>
          <p:nvPr/>
        </p:nvSpPr>
        <p:spPr>
          <a:xfrm>
            <a:off x="0" y="0"/>
            <a:ext cx="12192000" cy="650400"/>
          </a:xfrm>
          <a:prstGeom prst="rect">
            <a:avLst/>
          </a:prstGeom>
          <a:solidFill>
            <a:srgbClr val="DBE4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5"/>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
        <p:nvSpPr>
          <p:cNvPr id="40" name="Google Shape;40;p5"/>
          <p:cNvSpPr txBox="1">
            <a:spLocks noGrp="1"/>
          </p:cNvSpPr>
          <p:nvPr>
            <p:ph type="body" idx="1"/>
          </p:nvPr>
        </p:nvSpPr>
        <p:spPr>
          <a:xfrm>
            <a:off x="972600" y="1424867"/>
            <a:ext cx="10251600" cy="1379200"/>
          </a:xfrm>
          <a:prstGeom prst="rect">
            <a:avLst/>
          </a:prstGeom>
        </p:spPr>
        <p:txBody>
          <a:bodyPr spcFirstLastPara="1" wrap="square" lIns="91425" tIns="91425" rIns="91425" bIns="91425" anchor="t" anchorCtr="0">
            <a:noAutofit/>
          </a:bodyPr>
          <a:lstStyle>
            <a:lvl1pPr marL="609585" lvl="0" indent="-414856" rtl="0">
              <a:spcBef>
                <a:spcPts val="0"/>
              </a:spcBef>
              <a:spcAft>
                <a:spcPts val="0"/>
              </a:spcAft>
              <a:buSzPts val="1300"/>
              <a:buChar char="●"/>
              <a:defRPr/>
            </a:lvl1pPr>
            <a:lvl2pPr marL="1219170" lvl="1" indent="-397923" rtl="0">
              <a:spcBef>
                <a:spcPts val="2133"/>
              </a:spcBef>
              <a:spcAft>
                <a:spcPts val="0"/>
              </a:spcAft>
              <a:buSzPts val="1100"/>
              <a:buChar char="○"/>
              <a:defRPr/>
            </a:lvl2pPr>
            <a:lvl3pPr marL="1828754" lvl="2" indent="-397923" rtl="0">
              <a:spcBef>
                <a:spcPts val="2133"/>
              </a:spcBef>
              <a:spcAft>
                <a:spcPts val="0"/>
              </a:spcAft>
              <a:buSzPts val="1100"/>
              <a:buChar char="■"/>
              <a:defRPr/>
            </a:lvl3pPr>
            <a:lvl4pPr marL="2438339" lvl="3" indent="-397923" rtl="0">
              <a:spcBef>
                <a:spcPts val="2133"/>
              </a:spcBef>
              <a:spcAft>
                <a:spcPts val="0"/>
              </a:spcAft>
              <a:buSzPts val="1100"/>
              <a:buChar char="●"/>
              <a:defRPr/>
            </a:lvl4pPr>
            <a:lvl5pPr marL="3047924" lvl="4" indent="-397923" rtl="0">
              <a:spcBef>
                <a:spcPts val="2133"/>
              </a:spcBef>
              <a:spcAft>
                <a:spcPts val="0"/>
              </a:spcAft>
              <a:buSzPts val="1100"/>
              <a:buChar char="○"/>
              <a:defRPr/>
            </a:lvl5pPr>
            <a:lvl6pPr marL="3657509" lvl="5" indent="-397923" rtl="0">
              <a:spcBef>
                <a:spcPts val="2133"/>
              </a:spcBef>
              <a:spcAft>
                <a:spcPts val="0"/>
              </a:spcAft>
              <a:buSzPts val="1100"/>
              <a:buChar char="■"/>
              <a:defRPr/>
            </a:lvl6pPr>
            <a:lvl7pPr marL="4267093" lvl="6" indent="-397923" rtl="0">
              <a:spcBef>
                <a:spcPts val="2133"/>
              </a:spcBef>
              <a:spcAft>
                <a:spcPts val="0"/>
              </a:spcAft>
              <a:buSzPts val="1100"/>
              <a:buChar char="●"/>
              <a:defRPr/>
            </a:lvl7pPr>
            <a:lvl8pPr marL="4876678" lvl="7" indent="-397923" rtl="0">
              <a:spcBef>
                <a:spcPts val="2133"/>
              </a:spcBef>
              <a:spcAft>
                <a:spcPts val="0"/>
              </a:spcAft>
              <a:buSzPts val="1100"/>
              <a:buChar char="○"/>
              <a:defRPr/>
            </a:lvl8pPr>
            <a:lvl9pPr marL="5486263" lvl="8" indent="-397923" rtl="0">
              <a:spcBef>
                <a:spcPts val="2133"/>
              </a:spcBef>
              <a:spcAft>
                <a:spcPts val="2133"/>
              </a:spcAft>
              <a:buSzPts val="1100"/>
              <a:buChar char="■"/>
              <a:defRPr/>
            </a:lvl9pPr>
          </a:lstStyle>
          <a:p>
            <a:endParaRPr/>
          </a:p>
        </p:txBody>
      </p:sp>
      <p:pic>
        <p:nvPicPr>
          <p:cNvPr id="41" name="Google Shape;41;p5"/>
          <p:cNvPicPr preferRelativeResize="0"/>
          <p:nvPr/>
        </p:nvPicPr>
        <p:blipFill>
          <a:blip r:embed="rId2">
            <a:alphaModFix/>
          </a:blip>
          <a:stretch>
            <a:fillRect/>
          </a:stretch>
        </p:blipFill>
        <p:spPr>
          <a:xfrm>
            <a:off x="230234" y="6015567"/>
            <a:ext cx="666485" cy="605600"/>
          </a:xfrm>
          <a:prstGeom prst="rect">
            <a:avLst/>
          </a:prstGeom>
          <a:noFill/>
          <a:ln>
            <a:noFill/>
          </a:ln>
        </p:spPr>
      </p:pic>
    </p:spTree>
    <p:extLst>
      <p:ext uri="{BB962C8B-B14F-4D97-AF65-F5344CB8AC3E}">
        <p14:creationId xmlns:p14="http://schemas.microsoft.com/office/powerpoint/2010/main" val="3503740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0"/>
        <p:cNvGrpSpPr/>
        <p:nvPr/>
      </p:nvGrpSpPr>
      <p:grpSpPr>
        <a:xfrm>
          <a:off x="0" y="0"/>
          <a:ext cx="0" cy="0"/>
          <a:chOff x="0" y="0"/>
          <a:chExt cx="0" cy="0"/>
        </a:xfrm>
      </p:grpSpPr>
      <p:sp>
        <p:nvSpPr>
          <p:cNvPr id="61" name="Google Shape;61;p8"/>
          <p:cNvSpPr/>
          <p:nvPr/>
        </p:nvSpPr>
        <p:spPr>
          <a:xfrm>
            <a:off x="0" y="0"/>
            <a:ext cx="12192000" cy="650400"/>
          </a:xfrm>
          <a:prstGeom prst="rect">
            <a:avLst/>
          </a:prstGeom>
          <a:solidFill>
            <a:srgbClr val="DBE4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2" name="Google Shape;62;p8"/>
          <p:cNvGrpSpPr/>
          <p:nvPr/>
        </p:nvGrpSpPr>
        <p:grpSpPr>
          <a:xfrm>
            <a:off x="1107190" y="1588342"/>
            <a:ext cx="994351" cy="61101"/>
            <a:chOff x="4580561" y="2589004"/>
            <a:chExt cx="1064464" cy="25200"/>
          </a:xfrm>
        </p:grpSpPr>
        <p:sp>
          <p:nvSpPr>
            <p:cNvPr id="63" name="Google Shape;63;p8"/>
            <p:cNvSpPr/>
            <p:nvPr/>
          </p:nvSpPr>
          <p:spPr>
            <a:xfrm rot="-5400000">
              <a:off x="5366325" y="2335504"/>
              <a:ext cx="25200" cy="532200"/>
            </a:xfrm>
            <a:prstGeom prst="rect">
              <a:avLst/>
            </a:prstGeom>
            <a:solidFill>
              <a:srgbClr val="3646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64;p8"/>
            <p:cNvSpPr/>
            <p:nvPr/>
          </p:nvSpPr>
          <p:spPr>
            <a:xfrm rot="-5400000">
              <a:off x="4836311" y="2333254"/>
              <a:ext cx="25200" cy="536700"/>
            </a:xfrm>
            <a:prstGeom prst="rect">
              <a:avLst/>
            </a:prstGeom>
            <a:solidFill>
              <a:srgbClr val="67B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5" name="Google Shape;65;p8"/>
          <p:cNvSpPr txBox="1">
            <a:spLocks noGrp="1"/>
          </p:cNvSpPr>
          <p:nvPr>
            <p:ph type="title"/>
          </p:nvPr>
        </p:nvSpPr>
        <p:spPr>
          <a:xfrm>
            <a:off x="973333" y="1758200"/>
            <a:ext cx="4401200" cy="18420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3467">
                <a:solidFill>
                  <a:schemeClr val="dk2"/>
                </a:solidFill>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endParaRPr/>
          </a:p>
        </p:txBody>
      </p:sp>
      <p:sp>
        <p:nvSpPr>
          <p:cNvPr id="66" name="Google Shape;66;p8"/>
          <p:cNvSpPr txBox="1">
            <a:spLocks noGrp="1"/>
          </p:cNvSpPr>
          <p:nvPr>
            <p:ph type="body" idx="1"/>
          </p:nvPr>
        </p:nvSpPr>
        <p:spPr>
          <a:xfrm>
            <a:off x="961633" y="3708967"/>
            <a:ext cx="4401200" cy="2130000"/>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a:p>
        </p:txBody>
      </p:sp>
      <p:sp>
        <p:nvSpPr>
          <p:cNvPr id="67" name="Google Shape;67;p8"/>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pic>
        <p:nvPicPr>
          <p:cNvPr id="68" name="Google Shape;68;p8"/>
          <p:cNvPicPr preferRelativeResize="0"/>
          <p:nvPr/>
        </p:nvPicPr>
        <p:blipFill>
          <a:blip r:embed="rId2">
            <a:alphaModFix/>
          </a:blip>
          <a:stretch>
            <a:fillRect/>
          </a:stretch>
        </p:blipFill>
        <p:spPr>
          <a:xfrm>
            <a:off x="230234" y="6015567"/>
            <a:ext cx="666485" cy="605600"/>
          </a:xfrm>
          <a:prstGeom prst="rect">
            <a:avLst/>
          </a:prstGeom>
          <a:noFill/>
          <a:ln>
            <a:noFill/>
          </a:ln>
        </p:spPr>
      </p:pic>
    </p:spTree>
    <p:extLst>
      <p:ext uri="{BB962C8B-B14F-4D97-AF65-F5344CB8AC3E}">
        <p14:creationId xmlns:p14="http://schemas.microsoft.com/office/powerpoint/2010/main" val="3933908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9"/>
        <p:cNvGrpSpPr/>
        <p:nvPr/>
      </p:nvGrpSpPr>
      <p:grpSpPr>
        <a:xfrm>
          <a:off x="0" y="0"/>
          <a:ext cx="0" cy="0"/>
          <a:chOff x="0" y="0"/>
          <a:chExt cx="0" cy="0"/>
        </a:xfrm>
      </p:grpSpPr>
      <p:sp>
        <p:nvSpPr>
          <p:cNvPr id="70" name="Google Shape;70;p9"/>
          <p:cNvSpPr/>
          <p:nvPr/>
        </p:nvSpPr>
        <p:spPr>
          <a:xfrm>
            <a:off x="0" y="0"/>
            <a:ext cx="6096000" cy="6858000"/>
          </a:xfrm>
          <a:prstGeom prst="rect">
            <a:avLst/>
          </a:prstGeom>
          <a:solidFill>
            <a:srgbClr val="DBE4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1" name="Google Shape;71;p9"/>
          <p:cNvGrpSpPr/>
          <p:nvPr/>
        </p:nvGrpSpPr>
        <p:grpSpPr>
          <a:xfrm>
            <a:off x="1107190" y="1588342"/>
            <a:ext cx="994351" cy="61101"/>
            <a:chOff x="4580561" y="2589004"/>
            <a:chExt cx="1064464" cy="25200"/>
          </a:xfrm>
        </p:grpSpPr>
        <p:sp>
          <p:nvSpPr>
            <p:cNvPr id="72" name="Google Shape;72;p9"/>
            <p:cNvSpPr/>
            <p:nvPr/>
          </p:nvSpPr>
          <p:spPr>
            <a:xfrm rot="-5400000">
              <a:off x="5366325" y="2335504"/>
              <a:ext cx="25200" cy="532200"/>
            </a:xfrm>
            <a:prstGeom prst="rect">
              <a:avLst/>
            </a:prstGeom>
            <a:solidFill>
              <a:srgbClr val="3646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9"/>
            <p:cNvSpPr/>
            <p:nvPr/>
          </p:nvSpPr>
          <p:spPr>
            <a:xfrm rot="-5400000">
              <a:off x="4836311" y="2333254"/>
              <a:ext cx="25200" cy="536700"/>
            </a:xfrm>
            <a:prstGeom prst="rect">
              <a:avLst/>
            </a:prstGeom>
            <a:solidFill>
              <a:srgbClr val="67B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 name="Google Shape;74;p9"/>
          <p:cNvSpPr txBox="1">
            <a:spLocks noGrp="1"/>
          </p:cNvSpPr>
          <p:nvPr>
            <p:ph type="title"/>
          </p:nvPr>
        </p:nvSpPr>
        <p:spPr>
          <a:xfrm>
            <a:off x="973333" y="1758200"/>
            <a:ext cx="4401200" cy="22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3467">
                <a:solidFill>
                  <a:schemeClr val="dk2"/>
                </a:solidFill>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endParaRPr/>
          </a:p>
        </p:txBody>
      </p:sp>
      <p:sp>
        <p:nvSpPr>
          <p:cNvPr id="75" name="Google Shape;75;p9"/>
          <p:cNvSpPr txBox="1">
            <a:spLocks noGrp="1"/>
          </p:cNvSpPr>
          <p:nvPr>
            <p:ph type="subTitle" idx="1"/>
          </p:nvPr>
        </p:nvSpPr>
        <p:spPr>
          <a:xfrm>
            <a:off x="966600" y="4215367"/>
            <a:ext cx="4401200" cy="1012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2133"/>
            </a:lvl1pPr>
            <a:lvl2pPr lvl="1">
              <a:lnSpc>
                <a:spcPct val="100000"/>
              </a:lnSpc>
              <a:spcBef>
                <a:spcPts val="0"/>
              </a:spcBef>
              <a:spcAft>
                <a:spcPts val="0"/>
              </a:spcAft>
              <a:buSzPts val="1600"/>
              <a:buNone/>
              <a:defRPr sz="2133"/>
            </a:lvl2pPr>
            <a:lvl3pPr lvl="2">
              <a:lnSpc>
                <a:spcPct val="100000"/>
              </a:lnSpc>
              <a:spcBef>
                <a:spcPts val="0"/>
              </a:spcBef>
              <a:spcAft>
                <a:spcPts val="0"/>
              </a:spcAft>
              <a:buSzPts val="1600"/>
              <a:buNone/>
              <a:defRPr sz="2133"/>
            </a:lvl3pPr>
            <a:lvl4pPr lvl="3">
              <a:lnSpc>
                <a:spcPct val="100000"/>
              </a:lnSpc>
              <a:spcBef>
                <a:spcPts val="0"/>
              </a:spcBef>
              <a:spcAft>
                <a:spcPts val="0"/>
              </a:spcAft>
              <a:buSzPts val="1600"/>
              <a:buNone/>
              <a:defRPr sz="2133"/>
            </a:lvl4pPr>
            <a:lvl5pPr lvl="4">
              <a:lnSpc>
                <a:spcPct val="100000"/>
              </a:lnSpc>
              <a:spcBef>
                <a:spcPts val="0"/>
              </a:spcBef>
              <a:spcAft>
                <a:spcPts val="0"/>
              </a:spcAft>
              <a:buSzPts val="1600"/>
              <a:buNone/>
              <a:defRPr sz="2133"/>
            </a:lvl5pPr>
            <a:lvl6pPr lvl="5">
              <a:lnSpc>
                <a:spcPct val="100000"/>
              </a:lnSpc>
              <a:spcBef>
                <a:spcPts val="0"/>
              </a:spcBef>
              <a:spcAft>
                <a:spcPts val="0"/>
              </a:spcAft>
              <a:buSzPts val="1600"/>
              <a:buNone/>
              <a:defRPr sz="2133"/>
            </a:lvl6pPr>
            <a:lvl7pPr lvl="6">
              <a:lnSpc>
                <a:spcPct val="100000"/>
              </a:lnSpc>
              <a:spcBef>
                <a:spcPts val="0"/>
              </a:spcBef>
              <a:spcAft>
                <a:spcPts val="0"/>
              </a:spcAft>
              <a:buSzPts val="1600"/>
              <a:buNone/>
              <a:defRPr sz="2133"/>
            </a:lvl7pPr>
            <a:lvl8pPr lvl="7">
              <a:lnSpc>
                <a:spcPct val="100000"/>
              </a:lnSpc>
              <a:spcBef>
                <a:spcPts val="0"/>
              </a:spcBef>
              <a:spcAft>
                <a:spcPts val="0"/>
              </a:spcAft>
              <a:buSzPts val="1600"/>
              <a:buNone/>
              <a:defRPr sz="2133"/>
            </a:lvl8pPr>
            <a:lvl9pPr lvl="8">
              <a:lnSpc>
                <a:spcPct val="100000"/>
              </a:lnSpc>
              <a:spcBef>
                <a:spcPts val="0"/>
              </a:spcBef>
              <a:spcAft>
                <a:spcPts val="0"/>
              </a:spcAft>
              <a:buSzPts val="1600"/>
              <a:buNone/>
              <a:defRPr sz="2133"/>
            </a:lvl9pPr>
          </a:lstStyle>
          <a:p>
            <a:endParaRPr/>
          </a:p>
        </p:txBody>
      </p:sp>
      <p:sp>
        <p:nvSpPr>
          <p:cNvPr id="76" name="Google Shape;76;p9"/>
          <p:cNvSpPr txBox="1">
            <a:spLocks noGrp="1"/>
          </p:cNvSpPr>
          <p:nvPr>
            <p:ph type="body" idx="2"/>
          </p:nvPr>
        </p:nvSpPr>
        <p:spPr>
          <a:xfrm>
            <a:off x="6898967" y="1803500"/>
            <a:ext cx="4499200" cy="4034000"/>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a:p>
        </p:txBody>
      </p:sp>
      <p:sp>
        <p:nvSpPr>
          <p:cNvPr id="77" name="Google Shape;77;p9"/>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pic>
        <p:nvPicPr>
          <p:cNvPr id="78" name="Google Shape;78;p9"/>
          <p:cNvPicPr preferRelativeResize="0"/>
          <p:nvPr/>
        </p:nvPicPr>
        <p:blipFill>
          <a:blip r:embed="rId2">
            <a:alphaModFix/>
          </a:blip>
          <a:stretch>
            <a:fillRect/>
          </a:stretch>
        </p:blipFill>
        <p:spPr>
          <a:xfrm>
            <a:off x="215067" y="182400"/>
            <a:ext cx="666485" cy="605600"/>
          </a:xfrm>
          <a:prstGeom prst="rect">
            <a:avLst/>
          </a:prstGeom>
          <a:noFill/>
          <a:ln>
            <a:noFill/>
          </a:ln>
        </p:spPr>
      </p:pic>
    </p:spTree>
    <p:extLst>
      <p:ext uri="{BB962C8B-B14F-4D97-AF65-F5344CB8AC3E}">
        <p14:creationId xmlns:p14="http://schemas.microsoft.com/office/powerpoint/2010/main" val="783580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3"/>
        <p:cNvGrpSpPr/>
        <p:nvPr/>
      </p:nvGrpSpPr>
      <p:grpSpPr>
        <a:xfrm>
          <a:off x="0" y="0"/>
          <a:ext cx="0" cy="0"/>
          <a:chOff x="0" y="0"/>
          <a:chExt cx="0" cy="0"/>
        </a:xfrm>
      </p:grpSpPr>
      <p:sp>
        <p:nvSpPr>
          <p:cNvPr id="84" name="Google Shape;84;p11"/>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pic>
        <p:nvPicPr>
          <p:cNvPr id="85" name="Google Shape;85;p11"/>
          <p:cNvPicPr preferRelativeResize="0"/>
          <p:nvPr/>
        </p:nvPicPr>
        <p:blipFill>
          <a:blip r:embed="rId2">
            <a:alphaModFix/>
          </a:blip>
          <a:stretch>
            <a:fillRect/>
          </a:stretch>
        </p:blipFill>
        <p:spPr>
          <a:xfrm>
            <a:off x="215067" y="182400"/>
            <a:ext cx="666485" cy="605600"/>
          </a:xfrm>
          <a:prstGeom prst="rect">
            <a:avLst/>
          </a:prstGeom>
          <a:noFill/>
          <a:ln>
            <a:noFill/>
          </a:ln>
        </p:spPr>
      </p:pic>
    </p:spTree>
    <p:extLst>
      <p:ext uri="{BB962C8B-B14F-4D97-AF65-F5344CB8AC3E}">
        <p14:creationId xmlns:p14="http://schemas.microsoft.com/office/powerpoint/2010/main" val="804996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5EC50-79BE-B274-6E3E-2DD97C0779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F65EBA-E0ED-E403-004B-A47D9E99AD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C555CF-8568-BC14-3792-AC35F4A7C98E}"/>
              </a:ext>
            </a:extLst>
          </p:cNvPr>
          <p:cNvSpPr>
            <a:spLocks noGrp="1"/>
          </p:cNvSpPr>
          <p:nvPr>
            <p:ph type="dt" sz="half" idx="10"/>
          </p:nvPr>
        </p:nvSpPr>
        <p:spPr/>
        <p:txBody>
          <a:bodyPr/>
          <a:lstStyle/>
          <a:p>
            <a:fld id="{8CE4CCDD-3044-D943-8DB5-7FD6CDE5F561}" type="datetimeFigureOut">
              <a:rPr lang="en-US" smtClean="0"/>
              <a:t>4/15/25</a:t>
            </a:fld>
            <a:endParaRPr lang="en-US"/>
          </a:p>
        </p:txBody>
      </p:sp>
      <p:sp>
        <p:nvSpPr>
          <p:cNvPr id="5" name="Footer Placeholder 4">
            <a:extLst>
              <a:ext uri="{FF2B5EF4-FFF2-40B4-BE49-F238E27FC236}">
                <a16:creationId xmlns:a16="http://schemas.microsoft.com/office/drawing/2014/main" id="{56669E34-F8B5-1044-BCD9-FD7726D14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EBBB2D-0467-0BD8-9AF5-D2D14E12B8C8}"/>
              </a:ext>
            </a:extLst>
          </p:cNvPr>
          <p:cNvSpPr>
            <a:spLocks noGrp="1"/>
          </p:cNvSpPr>
          <p:nvPr>
            <p:ph type="sldNum" sz="quarter" idx="12"/>
          </p:nvPr>
        </p:nvSpPr>
        <p:spPr/>
        <p:txBody>
          <a:bodyPr/>
          <a:lstStyle/>
          <a:p>
            <a:fld id="{444FE79D-3282-E34B-ABCA-483D17D7002B}" type="slidenum">
              <a:rPr lang="en-US" smtClean="0"/>
              <a:t>‹#›</a:t>
            </a:fld>
            <a:endParaRPr lang="en-US"/>
          </a:p>
        </p:txBody>
      </p:sp>
    </p:spTree>
    <p:extLst>
      <p:ext uri="{BB962C8B-B14F-4D97-AF65-F5344CB8AC3E}">
        <p14:creationId xmlns:p14="http://schemas.microsoft.com/office/powerpoint/2010/main" val="2839471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Lato Black"/>
              <a:buNone/>
              <a:defRPr sz="2800">
                <a:latin typeface="Lato Black"/>
                <a:ea typeface="Lato Black"/>
                <a:cs typeface="Lato Black"/>
                <a:sym typeface="Lato Black"/>
              </a:defRPr>
            </a:lvl1pPr>
            <a:lvl2pPr lvl="1">
              <a:spcBef>
                <a:spcPts val="0"/>
              </a:spcBef>
              <a:spcAft>
                <a:spcPts val="0"/>
              </a:spcAft>
              <a:buSzPts val="2800"/>
              <a:buFont typeface="Lato Black"/>
              <a:buNone/>
              <a:defRPr sz="2800">
                <a:latin typeface="Lato Black"/>
                <a:ea typeface="Lato Black"/>
                <a:cs typeface="Lato Black"/>
                <a:sym typeface="Lato Black"/>
              </a:defRPr>
            </a:lvl2pPr>
            <a:lvl3pPr lvl="2">
              <a:spcBef>
                <a:spcPts val="0"/>
              </a:spcBef>
              <a:spcAft>
                <a:spcPts val="0"/>
              </a:spcAft>
              <a:buSzPts val="2800"/>
              <a:buFont typeface="Lato Black"/>
              <a:buNone/>
              <a:defRPr sz="2800">
                <a:latin typeface="Lato Black"/>
                <a:ea typeface="Lato Black"/>
                <a:cs typeface="Lato Black"/>
                <a:sym typeface="Lato Black"/>
              </a:defRPr>
            </a:lvl3pPr>
            <a:lvl4pPr lvl="3">
              <a:spcBef>
                <a:spcPts val="0"/>
              </a:spcBef>
              <a:spcAft>
                <a:spcPts val="0"/>
              </a:spcAft>
              <a:buSzPts val="2800"/>
              <a:buFont typeface="Lato Black"/>
              <a:buNone/>
              <a:defRPr sz="2800">
                <a:latin typeface="Lato Black"/>
                <a:ea typeface="Lato Black"/>
                <a:cs typeface="Lato Black"/>
                <a:sym typeface="Lato Black"/>
              </a:defRPr>
            </a:lvl4pPr>
            <a:lvl5pPr lvl="4">
              <a:spcBef>
                <a:spcPts val="0"/>
              </a:spcBef>
              <a:spcAft>
                <a:spcPts val="0"/>
              </a:spcAft>
              <a:buSzPts val="2800"/>
              <a:buFont typeface="Lato Black"/>
              <a:buNone/>
              <a:defRPr sz="2800">
                <a:latin typeface="Lato Black"/>
                <a:ea typeface="Lato Black"/>
                <a:cs typeface="Lato Black"/>
                <a:sym typeface="Lato Black"/>
              </a:defRPr>
            </a:lvl5pPr>
            <a:lvl6pPr lvl="5">
              <a:spcBef>
                <a:spcPts val="0"/>
              </a:spcBef>
              <a:spcAft>
                <a:spcPts val="0"/>
              </a:spcAft>
              <a:buSzPts val="2800"/>
              <a:buFont typeface="Lato Black"/>
              <a:buNone/>
              <a:defRPr sz="2800">
                <a:latin typeface="Lato Black"/>
                <a:ea typeface="Lato Black"/>
                <a:cs typeface="Lato Black"/>
                <a:sym typeface="Lato Black"/>
              </a:defRPr>
            </a:lvl6pPr>
            <a:lvl7pPr lvl="6">
              <a:spcBef>
                <a:spcPts val="0"/>
              </a:spcBef>
              <a:spcAft>
                <a:spcPts val="0"/>
              </a:spcAft>
              <a:buSzPts val="2800"/>
              <a:buFont typeface="Lato Black"/>
              <a:buNone/>
              <a:defRPr sz="2800">
                <a:latin typeface="Lato Black"/>
                <a:ea typeface="Lato Black"/>
                <a:cs typeface="Lato Black"/>
                <a:sym typeface="Lato Black"/>
              </a:defRPr>
            </a:lvl7pPr>
            <a:lvl8pPr lvl="7">
              <a:spcBef>
                <a:spcPts val="0"/>
              </a:spcBef>
              <a:spcAft>
                <a:spcPts val="0"/>
              </a:spcAft>
              <a:buSzPts val="2800"/>
              <a:buFont typeface="Lato Black"/>
              <a:buNone/>
              <a:defRPr sz="2800">
                <a:latin typeface="Lato Black"/>
                <a:ea typeface="Lato Black"/>
                <a:cs typeface="Lato Black"/>
                <a:sym typeface="Lato Black"/>
              </a:defRPr>
            </a:lvl8pPr>
            <a:lvl9pPr lvl="8">
              <a:spcBef>
                <a:spcPts val="0"/>
              </a:spcBef>
              <a:spcAft>
                <a:spcPts val="0"/>
              </a:spcAft>
              <a:buSzPts val="2800"/>
              <a:buFont typeface="Lato Black"/>
              <a:buNone/>
              <a:defRPr sz="2800">
                <a:latin typeface="Lato Black"/>
                <a:ea typeface="Lato Black"/>
                <a:cs typeface="Lato Black"/>
                <a:sym typeface="Lato Black"/>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Arvo"/>
              <a:buChar char="●"/>
              <a:defRPr sz="1300">
                <a:solidFill>
                  <a:schemeClr val="accent1"/>
                </a:solidFill>
                <a:latin typeface="Arvo"/>
                <a:ea typeface="Arvo"/>
                <a:cs typeface="Arvo"/>
                <a:sym typeface="Arvo"/>
              </a:defRPr>
            </a:lvl1pPr>
            <a:lvl2pPr marL="914400" lvl="1"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2pPr>
            <a:lvl3pPr marL="1371600" lvl="2"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3pPr>
            <a:lvl4pPr marL="1828800" lvl="3"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4pPr>
            <a:lvl5pPr marL="2286000" lvl="4"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5pPr>
            <a:lvl6pPr marL="2743200" lvl="5"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6pPr>
            <a:lvl7pPr marL="3200400" lvl="6"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7pPr>
            <a:lvl8pPr marL="3657600" lvl="7" indent="-298450">
              <a:lnSpc>
                <a:spcPct val="115000"/>
              </a:lnSpc>
              <a:spcBef>
                <a:spcPts val="1600"/>
              </a:spcBef>
              <a:spcAft>
                <a:spcPts val="0"/>
              </a:spcAft>
              <a:buClr>
                <a:schemeClr val="accent1"/>
              </a:buClr>
              <a:buSzPts val="1100"/>
              <a:buFont typeface="Arvo"/>
              <a:buChar char="○"/>
              <a:defRPr sz="1100">
                <a:solidFill>
                  <a:schemeClr val="accent1"/>
                </a:solidFill>
                <a:latin typeface="Arvo"/>
                <a:ea typeface="Arvo"/>
                <a:cs typeface="Arvo"/>
                <a:sym typeface="Arvo"/>
              </a:defRPr>
            </a:lvl8pPr>
            <a:lvl9pPr marL="4114800" lvl="8" indent="-298450">
              <a:lnSpc>
                <a:spcPct val="115000"/>
              </a:lnSpc>
              <a:spcBef>
                <a:spcPts val="1600"/>
              </a:spcBef>
              <a:spcAft>
                <a:spcPts val="1600"/>
              </a:spcAft>
              <a:buClr>
                <a:schemeClr val="accent1"/>
              </a:buClr>
              <a:buSzPts val="1100"/>
              <a:buFont typeface="Arvo"/>
              <a:buChar char="■"/>
              <a:defRPr sz="1100">
                <a:solidFill>
                  <a:schemeClr val="accent1"/>
                </a:solidFill>
                <a:latin typeface="Arvo"/>
                <a:ea typeface="Arvo"/>
                <a:cs typeface="Arvo"/>
                <a:sym typeface="Arvo"/>
              </a:defRPr>
            </a:lvl9pPr>
          </a:lstStyle>
          <a:p>
            <a:endParaRPr/>
          </a:p>
        </p:txBody>
      </p:sp>
      <p:sp>
        <p:nvSpPr>
          <p:cNvPr id="8" name="Google Shape;8;p1"/>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accent1"/>
                </a:solidFill>
                <a:latin typeface="Lato"/>
                <a:ea typeface="Lato"/>
                <a:cs typeface="Lato"/>
                <a:sym typeface="Lato"/>
              </a:defRPr>
            </a:lvl1pPr>
            <a:lvl2pPr lvl="1" algn="r">
              <a:buNone/>
              <a:defRPr sz="1333">
                <a:solidFill>
                  <a:schemeClr val="accent1"/>
                </a:solidFill>
                <a:latin typeface="Lato"/>
                <a:ea typeface="Lato"/>
                <a:cs typeface="Lato"/>
                <a:sym typeface="Lato"/>
              </a:defRPr>
            </a:lvl2pPr>
            <a:lvl3pPr lvl="2" algn="r">
              <a:buNone/>
              <a:defRPr sz="1333">
                <a:solidFill>
                  <a:schemeClr val="accent1"/>
                </a:solidFill>
                <a:latin typeface="Lato"/>
                <a:ea typeface="Lato"/>
                <a:cs typeface="Lato"/>
                <a:sym typeface="Lato"/>
              </a:defRPr>
            </a:lvl3pPr>
            <a:lvl4pPr lvl="3" algn="r">
              <a:buNone/>
              <a:defRPr sz="1333">
                <a:solidFill>
                  <a:schemeClr val="accent1"/>
                </a:solidFill>
                <a:latin typeface="Lato"/>
                <a:ea typeface="Lato"/>
                <a:cs typeface="Lato"/>
                <a:sym typeface="Lato"/>
              </a:defRPr>
            </a:lvl4pPr>
            <a:lvl5pPr lvl="4" algn="r">
              <a:buNone/>
              <a:defRPr sz="1333">
                <a:solidFill>
                  <a:schemeClr val="accent1"/>
                </a:solidFill>
                <a:latin typeface="Lato"/>
                <a:ea typeface="Lato"/>
                <a:cs typeface="Lato"/>
                <a:sym typeface="Lato"/>
              </a:defRPr>
            </a:lvl5pPr>
            <a:lvl6pPr lvl="5" algn="r">
              <a:buNone/>
              <a:defRPr sz="1333">
                <a:solidFill>
                  <a:schemeClr val="accent1"/>
                </a:solidFill>
                <a:latin typeface="Lato"/>
                <a:ea typeface="Lato"/>
                <a:cs typeface="Lato"/>
                <a:sym typeface="Lato"/>
              </a:defRPr>
            </a:lvl6pPr>
            <a:lvl7pPr lvl="6" algn="r">
              <a:buNone/>
              <a:defRPr sz="1333">
                <a:solidFill>
                  <a:schemeClr val="accent1"/>
                </a:solidFill>
                <a:latin typeface="Lato"/>
                <a:ea typeface="Lato"/>
                <a:cs typeface="Lato"/>
                <a:sym typeface="Lato"/>
              </a:defRPr>
            </a:lvl7pPr>
            <a:lvl8pPr lvl="7" algn="r">
              <a:buNone/>
              <a:defRPr sz="1333">
                <a:solidFill>
                  <a:schemeClr val="accent1"/>
                </a:solidFill>
                <a:latin typeface="Lato"/>
                <a:ea typeface="Lato"/>
                <a:cs typeface="Lato"/>
                <a:sym typeface="Lato"/>
              </a:defRPr>
            </a:lvl8pPr>
            <a:lvl9pPr lvl="8" algn="r">
              <a:buNone/>
              <a:defRPr sz="1333">
                <a:solidFill>
                  <a:schemeClr val="accent1"/>
                </a:solidFill>
                <a:latin typeface="Lato"/>
                <a:ea typeface="Lato"/>
                <a:cs typeface="Lato"/>
                <a:sym typeface="Lato"/>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48777863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3"/>
          <p:cNvSpPr txBox="1">
            <a:spLocks noGrp="1"/>
          </p:cNvSpPr>
          <p:nvPr>
            <p:ph type="ctrTitle"/>
          </p:nvPr>
        </p:nvSpPr>
        <p:spPr>
          <a:xfrm>
            <a:off x="773928" y="1586390"/>
            <a:ext cx="10449473" cy="2219600"/>
          </a:xfrm>
          <a:prstGeom prst="rect">
            <a:avLst/>
          </a:prstGeom>
        </p:spPr>
        <p:txBody>
          <a:bodyPr spcFirstLastPara="1" wrap="square" lIns="121900" tIns="121900" rIns="121900" bIns="121900" anchor="t" anchorCtr="0">
            <a:noAutofit/>
          </a:bodyPr>
          <a:lstStyle/>
          <a:p>
            <a:pPr algn="ctr"/>
            <a:r>
              <a:rPr lang="en-US" dirty="0" err="1"/>
              <a:t>cBGE</a:t>
            </a:r>
            <a:r>
              <a:rPr lang="en-US" dirty="0"/>
              <a:t> and WGS Merged </a:t>
            </a:r>
            <a:br>
              <a:rPr lang="en-US" dirty="0"/>
            </a:br>
            <a:r>
              <a:rPr lang="en-US" sz="4500" dirty="0"/>
              <a:t>QC Summary Statistics and </a:t>
            </a:r>
            <a:br>
              <a:rPr lang="en-US" sz="4500" dirty="0"/>
            </a:br>
            <a:r>
              <a:rPr lang="en-US" sz="4500" dirty="0"/>
              <a:t>Polygenic Risk Score</a:t>
            </a:r>
            <a:endParaRPr sz="4500" dirty="0"/>
          </a:p>
        </p:txBody>
      </p:sp>
      <p:sp>
        <p:nvSpPr>
          <p:cNvPr id="98" name="Google Shape;98;p13"/>
          <p:cNvSpPr txBox="1">
            <a:spLocks noGrp="1"/>
          </p:cNvSpPr>
          <p:nvPr>
            <p:ph type="subTitle" idx="1"/>
          </p:nvPr>
        </p:nvSpPr>
        <p:spPr>
          <a:xfrm>
            <a:off x="972601" y="4161810"/>
            <a:ext cx="10250800" cy="721600"/>
          </a:xfrm>
          <a:prstGeom prst="rect">
            <a:avLst/>
          </a:prstGeom>
        </p:spPr>
        <p:txBody>
          <a:bodyPr spcFirstLastPara="1" wrap="square" lIns="121900" tIns="121900" rIns="121900" bIns="121900" anchor="t" anchorCtr="0">
            <a:noAutofit/>
          </a:bodyPr>
          <a:lstStyle/>
          <a:p>
            <a:pPr marL="0" indent="0" algn="ctr"/>
            <a:r>
              <a:rPr lang="en-US" dirty="0"/>
              <a:t>Kugathasan Lab</a:t>
            </a:r>
          </a:p>
          <a:p>
            <a:pPr marL="0" indent="0" algn="ctr"/>
            <a:r>
              <a:rPr lang="en-US" dirty="0"/>
              <a:t>April 15</a:t>
            </a:r>
            <a:r>
              <a:rPr lang="en-US" baseline="30000" dirty="0"/>
              <a:t>th </a:t>
            </a:r>
            <a:r>
              <a:rPr lang="en-US" dirty="0"/>
              <a:t>2025</a:t>
            </a:r>
          </a:p>
          <a:p>
            <a:pPr marL="0" indent="0" algn="ctr"/>
            <a:r>
              <a:rPr lang="en-US" dirty="0"/>
              <a:t>Ranjit Pelia and Dave Cutler</a:t>
            </a:r>
          </a:p>
          <a:p>
            <a:pPr marL="0" indent="0" algn="ctr"/>
            <a:r>
              <a:rPr lang="en-US" dirty="0"/>
              <a:t>PhD Genetics &amp; Molecular Biology (Y3)</a:t>
            </a:r>
          </a:p>
          <a:p>
            <a:pPr marL="0" indent="0" algn="ctr"/>
            <a:endParaRPr dirty="0"/>
          </a:p>
        </p:txBody>
      </p:sp>
      <p:sp>
        <p:nvSpPr>
          <p:cNvPr id="2" name="Slide Number Placeholder 1">
            <a:extLst>
              <a:ext uri="{FF2B5EF4-FFF2-40B4-BE49-F238E27FC236}">
                <a16:creationId xmlns:a16="http://schemas.microsoft.com/office/drawing/2014/main" id="{4C6C5FFB-E1FC-8325-B2EE-88E4D5201487}"/>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1333" b="0" i="0" u="none" strike="noStrike" kern="1200" cap="none" spc="0" normalizeH="0" baseline="0" noProof="0" smtClean="0">
                <a:ln>
                  <a:noFill/>
                </a:ln>
                <a:solidFill>
                  <a:srgbClr val="595959"/>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333" b="0" i="0" u="none" strike="noStrike" kern="1200" cap="none" spc="0" normalizeH="0" baseline="0" noProof="0">
              <a:ln>
                <a:noFill/>
              </a:ln>
              <a:solidFill>
                <a:srgbClr val="595959"/>
              </a:solidFill>
              <a:effectLst/>
              <a:uLnTx/>
              <a:uFillTx/>
              <a:latin typeface="Lato"/>
              <a:ea typeface="Lato"/>
              <a:cs typeface="Lato"/>
              <a:sym typeface="Lato"/>
            </a:endParaRPr>
          </a:p>
        </p:txBody>
      </p:sp>
      <p:sp>
        <p:nvSpPr>
          <p:cNvPr id="3" name="TextBox 2">
            <a:extLst>
              <a:ext uri="{FF2B5EF4-FFF2-40B4-BE49-F238E27FC236}">
                <a16:creationId xmlns:a16="http://schemas.microsoft.com/office/drawing/2014/main" id="{4DF4754A-B260-179C-3D88-E7FDCD5AA209}"/>
              </a:ext>
            </a:extLst>
          </p:cNvPr>
          <p:cNvSpPr txBox="1"/>
          <p:nvPr/>
        </p:nvSpPr>
        <p:spPr>
          <a:xfrm>
            <a:off x="3294631" y="160544"/>
            <a:ext cx="8627469"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A9988"/>
              </a:solidFill>
              <a:effectLst/>
              <a:uLnTx/>
              <a:uFillTx/>
              <a:latin typeface="Arial"/>
              <a:ea typeface="+mn-ea"/>
              <a:cs typeface="+mn-cs"/>
            </a:endParaRPr>
          </a:p>
        </p:txBody>
      </p:sp>
      <p:pic>
        <p:nvPicPr>
          <p:cNvPr id="1026" name="Picture 2" descr="Announcement of New Chair | Emory School of Medicine">
            <a:extLst>
              <a:ext uri="{FF2B5EF4-FFF2-40B4-BE49-F238E27FC236}">
                <a16:creationId xmlns:a16="http://schemas.microsoft.com/office/drawing/2014/main" id="{1F820272-31BB-FEF9-4028-04428D10E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749" y="5783954"/>
            <a:ext cx="3692501" cy="8115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943954-3F97-937A-A4E0-8D75FC10D830}"/>
              </a:ext>
            </a:extLst>
          </p:cNvPr>
          <p:cNvSpPr>
            <a:spLocks noGrp="1"/>
          </p:cNvSpPr>
          <p:nvPr>
            <p:ph type="sldNum" idx="12"/>
          </p:nvPr>
        </p:nvSpPr>
        <p:spPr/>
        <p:txBody>
          <a:bodyPr/>
          <a:lstStyle/>
          <a:p>
            <a:fld id="{00000000-1234-1234-1234-123412341234}" type="slidenum">
              <a:rPr lang="en-GB" smtClean="0"/>
              <a:pPr/>
              <a:t>2</a:t>
            </a:fld>
            <a:endParaRPr lang="en-GB"/>
          </a:p>
        </p:txBody>
      </p:sp>
      <p:sp>
        <p:nvSpPr>
          <p:cNvPr id="11" name="TextBox 10">
            <a:extLst>
              <a:ext uri="{FF2B5EF4-FFF2-40B4-BE49-F238E27FC236}">
                <a16:creationId xmlns:a16="http://schemas.microsoft.com/office/drawing/2014/main" id="{5AC3D085-4F19-1102-290D-D6153DF88205}"/>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Ancestry Amongst Datasets</a:t>
            </a:r>
          </a:p>
        </p:txBody>
      </p:sp>
      <p:sp>
        <p:nvSpPr>
          <p:cNvPr id="12" name="TextBox 11">
            <a:extLst>
              <a:ext uri="{FF2B5EF4-FFF2-40B4-BE49-F238E27FC236}">
                <a16:creationId xmlns:a16="http://schemas.microsoft.com/office/drawing/2014/main" id="{68826C7B-54B0-500D-6CEC-04542E368FE0}"/>
              </a:ext>
            </a:extLst>
          </p:cNvPr>
          <p:cNvSpPr txBox="1"/>
          <p:nvPr/>
        </p:nvSpPr>
        <p:spPr>
          <a:xfrm>
            <a:off x="4438133" y="839787"/>
            <a:ext cx="1216855" cy="369332"/>
          </a:xfrm>
          <a:prstGeom prst="rect">
            <a:avLst/>
          </a:prstGeom>
          <a:solidFill>
            <a:srgbClr val="95FFB3"/>
          </a:solidFill>
        </p:spPr>
        <p:txBody>
          <a:bodyPr wrap="square" rtlCol="0" anchor="ctr">
            <a:spAutoFit/>
          </a:bodyPr>
          <a:lstStyle/>
          <a:p>
            <a:pPr algn="ctr"/>
            <a:r>
              <a:rPr lang="en-US" dirty="0">
                <a:solidFill>
                  <a:prstClr val="black"/>
                </a:solidFill>
                <a:cs typeface="Arial" panose="020B0604020202020204" pitchFamily="34" charset="0"/>
              </a:rPr>
              <a:t>WGS</a:t>
            </a:r>
          </a:p>
        </p:txBody>
      </p:sp>
      <p:sp>
        <p:nvSpPr>
          <p:cNvPr id="13" name="TextBox 12">
            <a:extLst>
              <a:ext uri="{FF2B5EF4-FFF2-40B4-BE49-F238E27FC236}">
                <a16:creationId xmlns:a16="http://schemas.microsoft.com/office/drawing/2014/main" id="{A83F37CB-AAA2-66E6-CBB7-CF693FCD63CD}"/>
              </a:ext>
            </a:extLst>
          </p:cNvPr>
          <p:cNvSpPr txBox="1"/>
          <p:nvPr/>
        </p:nvSpPr>
        <p:spPr>
          <a:xfrm>
            <a:off x="6432115" y="839787"/>
            <a:ext cx="1216855" cy="369332"/>
          </a:xfrm>
          <a:prstGeom prst="rect">
            <a:avLst/>
          </a:prstGeom>
          <a:solidFill>
            <a:srgbClr val="AFBF15"/>
          </a:solidFill>
        </p:spPr>
        <p:txBody>
          <a:bodyPr wrap="square" rtlCol="0" anchor="ctr">
            <a:spAutoFit/>
          </a:bodyPr>
          <a:lstStyle/>
          <a:p>
            <a:pPr algn="ctr"/>
            <a:r>
              <a:rPr lang="en-US" dirty="0">
                <a:solidFill>
                  <a:prstClr val="black"/>
                </a:solidFill>
                <a:cs typeface="Arial" panose="020B0604020202020204" pitchFamily="34" charset="0"/>
              </a:rPr>
              <a:t>cBGE</a:t>
            </a:r>
          </a:p>
        </p:txBody>
      </p:sp>
      <p:cxnSp>
        <p:nvCxnSpPr>
          <p:cNvPr id="14" name="Straight Arrow Connector 13">
            <a:extLst>
              <a:ext uri="{FF2B5EF4-FFF2-40B4-BE49-F238E27FC236}">
                <a16:creationId xmlns:a16="http://schemas.microsoft.com/office/drawing/2014/main" id="{1F02CED2-3828-3456-F304-D851865E1632}"/>
              </a:ext>
            </a:extLst>
          </p:cNvPr>
          <p:cNvCxnSpPr/>
          <p:nvPr/>
        </p:nvCxnSpPr>
        <p:spPr>
          <a:xfrm>
            <a:off x="5045453" y="1293829"/>
            <a:ext cx="0" cy="315311"/>
          </a:xfrm>
          <a:prstGeom prst="straightConnector1">
            <a:avLst/>
          </a:prstGeom>
          <a:noFill/>
          <a:ln w="19050" cap="flat" cmpd="sng" algn="ctr">
            <a:solidFill>
              <a:srgbClr val="0F9ED5"/>
            </a:solidFill>
            <a:prstDash val="solid"/>
            <a:round/>
            <a:headEnd type="none" w="med" len="med"/>
            <a:tailEnd type="arrow" w="med" len="med"/>
          </a:ln>
          <a:effectLst/>
        </p:spPr>
      </p:cxnSp>
      <p:cxnSp>
        <p:nvCxnSpPr>
          <p:cNvPr id="15" name="Straight Arrow Connector 14">
            <a:extLst>
              <a:ext uri="{FF2B5EF4-FFF2-40B4-BE49-F238E27FC236}">
                <a16:creationId xmlns:a16="http://schemas.microsoft.com/office/drawing/2014/main" id="{A34C861D-248B-FCEB-5650-2582BE15B657}"/>
              </a:ext>
            </a:extLst>
          </p:cNvPr>
          <p:cNvCxnSpPr/>
          <p:nvPr/>
        </p:nvCxnSpPr>
        <p:spPr>
          <a:xfrm>
            <a:off x="7040543" y="1293829"/>
            <a:ext cx="0" cy="315311"/>
          </a:xfrm>
          <a:prstGeom prst="straightConnector1">
            <a:avLst/>
          </a:prstGeom>
          <a:noFill/>
          <a:ln w="19050" cap="flat" cmpd="sng" algn="ctr">
            <a:solidFill>
              <a:srgbClr val="0F9ED5"/>
            </a:solidFill>
            <a:prstDash val="solid"/>
            <a:round/>
            <a:headEnd type="none" w="med" len="med"/>
            <a:tailEnd type="arrow" w="med" len="med"/>
          </a:ln>
          <a:effectLst/>
        </p:spPr>
      </p:cxnSp>
      <p:sp>
        <p:nvSpPr>
          <p:cNvPr id="16" name="TextBox 15">
            <a:extLst>
              <a:ext uri="{FF2B5EF4-FFF2-40B4-BE49-F238E27FC236}">
                <a16:creationId xmlns:a16="http://schemas.microsoft.com/office/drawing/2014/main" id="{11E6E4F9-E6F1-EEAC-152F-0619E5D83DE8}"/>
              </a:ext>
            </a:extLst>
          </p:cNvPr>
          <p:cNvSpPr txBox="1"/>
          <p:nvPr/>
        </p:nvSpPr>
        <p:spPr>
          <a:xfrm>
            <a:off x="4545957" y="1700278"/>
            <a:ext cx="998991" cy="369332"/>
          </a:xfrm>
          <a:prstGeom prst="rect">
            <a:avLst/>
          </a:prstGeom>
          <a:noFill/>
        </p:spPr>
        <p:txBody>
          <a:bodyPr wrap="none" rtlCol="0" anchor="ctr">
            <a:spAutoFit/>
          </a:bodyPr>
          <a:lstStyle/>
          <a:p>
            <a:pPr algn="ctr"/>
            <a:r>
              <a:rPr lang="en-US" dirty="0">
                <a:solidFill>
                  <a:prstClr val="black"/>
                </a:solidFill>
                <a:cs typeface="Arial" panose="020B0604020202020204" pitchFamily="34" charset="0"/>
              </a:rPr>
              <a:t>N=3610</a:t>
            </a:r>
          </a:p>
        </p:txBody>
      </p:sp>
      <p:sp>
        <p:nvSpPr>
          <p:cNvPr id="17" name="TextBox 16">
            <a:extLst>
              <a:ext uri="{FF2B5EF4-FFF2-40B4-BE49-F238E27FC236}">
                <a16:creationId xmlns:a16="http://schemas.microsoft.com/office/drawing/2014/main" id="{2A4ACA3B-0A4A-4A33-5CF1-52C995353767}"/>
              </a:ext>
            </a:extLst>
          </p:cNvPr>
          <p:cNvSpPr txBox="1"/>
          <p:nvPr/>
        </p:nvSpPr>
        <p:spPr>
          <a:xfrm>
            <a:off x="6584966" y="1700278"/>
            <a:ext cx="998992" cy="369332"/>
          </a:xfrm>
          <a:prstGeom prst="rect">
            <a:avLst/>
          </a:prstGeom>
          <a:noFill/>
        </p:spPr>
        <p:txBody>
          <a:bodyPr wrap="none" rtlCol="0" anchor="ctr">
            <a:spAutoFit/>
          </a:bodyPr>
          <a:lstStyle/>
          <a:p>
            <a:pPr algn="ctr"/>
            <a:r>
              <a:rPr lang="en-US" dirty="0">
                <a:solidFill>
                  <a:prstClr val="black"/>
                </a:solidFill>
                <a:cs typeface="Arial" panose="020B0604020202020204" pitchFamily="34" charset="0"/>
              </a:rPr>
              <a:t>N=1794</a:t>
            </a:r>
          </a:p>
        </p:txBody>
      </p:sp>
      <p:graphicFrame>
        <p:nvGraphicFramePr>
          <p:cNvPr id="18" name="Table 17">
            <a:extLst>
              <a:ext uri="{FF2B5EF4-FFF2-40B4-BE49-F238E27FC236}">
                <a16:creationId xmlns:a16="http://schemas.microsoft.com/office/drawing/2014/main" id="{31121298-94AC-9B17-9EBE-F6E3B52C4404}"/>
              </a:ext>
            </a:extLst>
          </p:cNvPr>
          <p:cNvGraphicFramePr>
            <a:graphicFrameLocks noGrp="1"/>
          </p:cNvGraphicFramePr>
          <p:nvPr>
            <p:extLst>
              <p:ext uri="{D42A27DB-BD31-4B8C-83A1-F6EECF244321}">
                <p14:modId xmlns:p14="http://schemas.microsoft.com/office/powerpoint/2010/main" val="133302241"/>
              </p:ext>
            </p:extLst>
          </p:nvPr>
        </p:nvGraphicFramePr>
        <p:xfrm>
          <a:off x="2032000" y="2715513"/>
          <a:ext cx="8127999" cy="2255904"/>
        </p:xfrm>
        <a:graphic>
          <a:graphicData uri="http://schemas.openxmlformats.org/drawingml/2006/table">
            <a:tbl>
              <a:tblPr firstRow="1" bandRow="1"/>
              <a:tblGrid>
                <a:gridCol w="2709333">
                  <a:extLst>
                    <a:ext uri="{9D8B030D-6E8A-4147-A177-3AD203B41FA5}">
                      <a16:colId xmlns:a16="http://schemas.microsoft.com/office/drawing/2014/main" val="12656323"/>
                    </a:ext>
                  </a:extLst>
                </a:gridCol>
                <a:gridCol w="2709333">
                  <a:extLst>
                    <a:ext uri="{9D8B030D-6E8A-4147-A177-3AD203B41FA5}">
                      <a16:colId xmlns:a16="http://schemas.microsoft.com/office/drawing/2014/main" val="3846314004"/>
                    </a:ext>
                  </a:extLst>
                </a:gridCol>
                <a:gridCol w="2709333">
                  <a:extLst>
                    <a:ext uri="{9D8B030D-6E8A-4147-A177-3AD203B41FA5}">
                      <a16:colId xmlns:a16="http://schemas.microsoft.com/office/drawing/2014/main" val="1742841137"/>
                    </a:ext>
                  </a:extLst>
                </a:gridCol>
              </a:tblGrid>
              <a:tr h="370840">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9pPr>
                    </a:lstStyle>
                    <a:p>
                      <a:r>
                        <a:rPr lang="en-US" dirty="0"/>
                        <a:t>Ancestry</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9pPr>
                    </a:lstStyle>
                    <a:p>
                      <a:r>
                        <a:rPr lang="en-US" dirty="0"/>
                        <a:t>WGS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Aptos" panose="02110004020202020204"/>
                          <a:sym typeface="Arial"/>
                        </a:defRPr>
                      </a:lvl9pPr>
                    </a:lstStyle>
                    <a:p>
                      <a:r>
                        <a:rPr lang="en-US" dirty="0"/>
                        <a:t>cBGE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928812356"/>
                  </a:ext>
                </a:extLst>
              </a:tr>
              <a:tr h="370840">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African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3401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1174</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483320356"/>
                  </a:ext>
                </a:extLst>
              </a:tr>
              <a:tr h="370840">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American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35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503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83922527"/>
                  </a:ext>
                </a:extLst>
              </a:tr>
              <a:tr h="370840">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European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161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115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159139543"/>
                  </a:ext>
                </a:extLst>
              </a:tr>
              <a:tr h="370840">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South Asian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3502692475"/>
                  </a:ext>
                </a:extLst>
              </a:tr>
              <a:tr h="370840">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East Asian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Aptos" panose="02110004020202020204"/>
                          <a:sym typeface="Arial"/>
                        </a:defRPr>
                      </a:lvl9pPr>
                    </a:lstStyle>
                    <a:p>
                      <a:pPr algn="ctr"/>
                      <a:r>
                        <a:rPr lang="en-US" dirty="0">
                          <a:solidFill>
                            <a:schemeClr val="bg2"/>
                          </a:solidFill>
                        </a:rPr>
                        <a:t>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664861901"/>
                  </a:ext>
                </a:extLst>
              </a:tr>
            </a:tbl>
          </a:graphicData>
        </a:graphic>
      </p:graphicFrame>
    </p:spTree>
    <p:extLst>
      <p:ext uri="{BB962C8B-B14F-4D97-AF65-F5344CB8AC3E}">
        <p14:creationId xmlns:p14="http://schemas.microsoft.com/office/powerpoint/2010/main" val="4016044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650436-E3D5-AEE9-7250-391680C0D2F3}"/>
              </a:ext>
            </a:extLst>
          </p:cNvPr>
          <p:cNvSpPr>
            <a:spLocks noGrp="1"/>
          </p:cNvSpPr>
          <p:nvPr>
            <p:ph type="title"/>
          </p:nvPr>
        </p:nvSpPr>
        <p:spPr/>
        <p:txBody>
          <a:bodyPr/>
          <a:lstStyle/>
          <a:p>
            <a:r>
              <a:rPr lang="en-US" dirty="0"/>
              <a:t>What exactly was wrong two weeks ago?</a:t>
            </a:r>
          </a:p>
        </p:txBody>
      </p:sp>
      <p:sp>
        <p:nvSpPr>
          <p:cNvPr id="5" name="Text Placeholder 4">
            <a:extLst>
              <a:ext uri="{FF2B5EF4-FFF2-40B4-BE49-F238E27FC236}">
                <a16:creationId xmlns:a16="http://schemas.microsoft.com/office/drawing/2014/main" id="{B62CBCDD-5C28-A599-852F-C11E4F42650C}"/>
              </a:ext>
            </a:extLst>
          </p:cNvPr>
          <p:cNvSpPr>
            <a:spLocks noGrp="1"/>
          </p:cNvSpPr>
          <p:nvPr>
            <p:ph type="body" idx="1"/>
          </p:nvPr>
        </p:nvSpPr>
        <p:spPr>
          <a:xfrm>
            <a:off x="967800" y="2672270"/>
            <a:ext cx="10733846" cy="3660865"/>
          </a:xfrm>
        </p:spPr>
        <p:txBody>
          <a:bodyPr/>
          <a:lstStyle/>
          <a:p>
            <a:r>
              <a:rPr lang="en-US" sz="1800" dirty="0">
                <a:latin typeface="Menlo" panose="020B0609030804020204" pitchFamily="49" charset="0"/>
                <a:ea typeface="Menlo" panose="020B0609030804020204" pitchFamily="49" charset="0"/>
                <a:cs typeface="Menlo" panose="020B0609030804020204" pitchFamily="49" charset="0"/>
              </a:rPr>
              <a:t>Multiallelic sites with differing representations of the reference allele were handled incorrectly!</a:t>
            </a:r>
          </a:p>
          <a:p>
            <a:endParaRPr lang="en-US" sz="1800" dirty="0">
              <a:latin typeface="Menlo" panose="020B0609030804020204" pitchFamily="49" charset="0"/>
              <a:ea typeface="Menlo" panose="020B0609030804020204" pitchFamily="49" charset="0"/>
              <a:cs typeface="Menlo" panose="020B0609030804020204" pitchFamily="49" charset="0"/>
            </a:endParaRPr>
          </a:p>
          <a:p>
            <a:pPr>
              <a:lnSpc>
                <a:spcPct val="0"/>
              </a:lnSpc>
            </a:pPr>
            <a:r>
              <a:rPr lang="en-US" sz="1800" dirty="0">
                <a:latin typeface="Menlo" panose="020B0609030804020204" pitchFamily="49" charset="0"/>
                <a:ea typeface="Menlo" panose="020B0609030804020204" pitchFamily="49" charset="0"/>
                <a:cs typeface="Menlo" panose="020B0609030804020204" pitchFamily="49" charset="0"/>
              </a:rPr>
              <a:t>An example</a:t>
            </a:r>
          </a:p>
          <a:p>
            <a:pPr>
              <a:lnSpc>
                <a:spcPct val="0"/>
              </a:lnSpc>
            </a:pPr>
            <a:endParaRPr lang="en-US" sz="1800" dirty="0">
              <a:latin typeface="Menlo" panose="020B0609030804020204" pitchFamily="49" charset="0"/>
              <a:ea typeface="Menlo" panose="020B0609030804020204" pitchFamily="49" charset="0"/>
              <a:cs typeface="Menlo" panose="020B0609030804020204" pitchFamily="49" charset="0"/>
            </a:endParaRPr>
          </a:p>
          <a:p>
            <a:pPr lvl="1">
              <a:lnSpc>
                <a:spcPct val="10000"/>
              </a:lnSpc>
            </a:pPr>
            <a:r>
              <a:rPr lang="en-US" sz="1800" dirty="0">
                <a:latin typeface="Menlo" panose="020B0609030804020204" pitchFamily="49" charset="0"/>
                <a:ea typeface="Menlo" panose="020B0609030804020204" pitchFamily="49" charset="0"/>
                <a:cs typeface="Menlo" panose="020B0609030804020204" pitchFamily="49" charset="0"/>
              </a:rPr>
              <a:t>In the WGS dataset </a:t>
            </a:r>
          </a:p>
          <a:p>
            <a:pPr lvl="2">
              <a:lnSpc>
                <a:spcPct val="10000"/>
              </a:lnSpc>
            </a:pPr>
            <a:r>
              <a:rPr lang="en-US" sz="1800" dirty="0">
                <a:solidFill>
                  <a:srgbClr val="000000"/>
                </a:solidFill>
                <a:effectLst/>
                <a:latin typeface="Menlo" panose="020B0609030804020204" pitchFamily="49" charset="0"/>
                <a:ea typeface="Menlo" panose="020B0609030804020204" pitchFamily="49" charset="0"/>
                <a:cs typeface="Menlo" panose="020B0609030804020204" pitchFamily="49" charset="0"/>
              </a:rPr>
              <a:t>:1 788841 rs372538724 GGAACGGAA AGAACGGAA,*,CGAACGGAA</a:t>
            </a:r>
          </a:p>
          <a:p>
            <a:pPr lvl="1">
              <a:lnSpc>
                <a:spcPct val="10000"/>
              </a:lnSpc>
            </a:pPr>
            <a:r>
              <a:rPr lang="en-US" sz="1800" dirty="0">
                <a:latin typeface="Menlo" panose="020B0609030804020204" pitchFamily="49" charset="0"/>
                <a:ea typeface="Menlo" panose="020B0609030804020204" pitchFamily="49" charset="0"/>
                <a:cs typeface="Menlo" panose="020B0609030804020204" pitchFamily="49" charset="0"/>
              </a:rPr>
              <a:t>In BGE </a:t>
            </a:r>
          </a:p>
          <a:p>
            <a:pPr lvl="2">
              <a:lnSpc>
                <a:spcPct val="10000"/>
              </a:lnSpc>
            </a:pPr>
            <a:r>
              <a:rPr lang="en-US" sz="1800" dirty="0">
                <a:solidFill>
                  <a:srgbClr val="000000"/>
                </a:solidFill>
                <a:effectLst/>
                <a:latin typeface="Menlo" panose="020B0609030804020204" pitchFamily="49" charset="0"/>
                <a:ea typeface="Menlo" panose="020B0609030804020204" pitchFamily="49" charset="0"/>
                <a:cs typeface="Menlo" panose="020B0609030804020204" pitchFamily="49" charset="0"/>
              </a:rPr>
              <a:t>1 788841 rs372538724 G A</a:t>
            </a:r>
          </a:p>
          <a:p>
            <a:pPr lvl="1">
              <a:lnSpc>
                <a:spcPct val="10000"/>
              </a:lnSpc>
            </a:pPr>
            <a:r>
              <a:rPr lang="en-US" sz="1800" dirty="0">
                <a:latin typeface="Menlo" panose="020B0609030804020204" pitchFamily="49" charset="0"/>
                <a:ea typeface="Menlo" panose="020B0609030804020204" pitchFamily="49" charset="0"/>
                <a:cs typeface="Menlo" panose="020B0609030804020204" pitchFamily="49" charset="0"/>
              </a:rPr>
              <a:t>Incorrectly combined last time</a:t>
            </a:r>
          </a:p>
          <a:p>
            <a:pPr lvl="2">
              <a:lnSpc>
                <a:spcPct val="10000"/>
              </a:lnSpc>
            </a:pPr>
            <a:r>
              <a:rPr lang="en-US" sz="1800" dirty="0">
                <a:solidFill>
                  <a:srgbClr val="000000"/>
                </a:solidFill>
                <a:effectLst/>
                <a:latin typeface="Menlo" panose="020B0609030804020204" pitchFamily="49" charset="0"/>
                <a:ea typeface="Menlo" panose="020B0609030804020204" pitchFamily="49" charset="0"/>
                <a:cs typeface="Menlo" panose="020B0609030804020204" pitchFamily="49" charset="0"/>
              </a:rPr>
              <a:t>1 788841 rs372538724 GGAACGGAA AGAACGGAA,*,CGAACGGAA,G,A</a:t>
            </a:r>
          </a:p>
          <a:p>
            <a:pPr lvl="1">
              <a:lnSpc>
                <a:spcPct val="10000"/>
              </a:lnSpc>
            </a:pPr>
            <a:r>
              <a:rPr lang="en-US" sz="1800" dirty="0">
                <a:solidFill>
                  <a:srgbClr val="000000"/>
                </a:solidFill>
                <a:latin typeface="Menlo" panose="020B0609030804020204" pitchFamily="49" charset="0"/>
                <a:ea typeface="Menlo" panose="020B0609030804020204" pitchFamily="49" charset="0"/>
                <a:cs typeface="Menlo" panose="020B0609030804020204" pitchFamily="49" charset="0"/>
              </a:rPr>
              <a:t>Correctly combined, this time</a:t>
            </a:r>
            <a:endParaRPr lang="en-US" sz="180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2">
              <a:lnSpc>
                <a:spcPct val="10000"/>
              </a:lnSpc>
            </a:pPr>
            <a:r>
              <a:rPr lang="en-US" sz="1800" dirty="0">
                <a:solidFill>
                  <a:srgbClr val="000000"/>
                </a:solidFill>
                <a:effectLst/>
                <a:latin typeface="Menlo" panose="020B0609030804020204" pitchFamily="49" charset="0"/>
                <a:ea typeface="Menlo" panose="020B0609030804020204" pitchFamily="49" charset="0"/>
                <a:cs typeface="Menlo" panose="020B0609030804020204" pitchFamily="49" charset="0"/>
              </a:rPr>
              <a:t>1 788841 rs372538724 GGAACGGAA AGAACGGAA,*,CGAACGGAA</a:t>
            </a:r>
          </a:p>
          <a:p>
            <a:pPr lvl="2">
              <a:lnSpc>
                <a:spcPct val="0"/>
              </a:lnSpc>
            </a:pPr>
            <a:endParaRPr lang="en-US" dirty="0"/>
          </a:p>
        </p:txBody>
      </p:sp>
      <p:sp>
        <p:nvSpPr>
          <p:cNvPr id="2" name="Slide Number Placeholder 1">
            <a:extLst>
              <a:ext uri="{FF2B5EF4-FFF2-40B4-BE49-F238E27FC236}">
                <a16:creationId xmlns:a16="http://schemas.microsoft.com/office/drawing/2014/main" id="{0E1985CF-42EE-DE62-062C-1C8FEF54E842}"/>
              </a:ext>
            </a:extLst>
          </p:cNvPr>
          <p:cNvSpPr>
            <a:spLocks noGrp="1"/>
          </p:cNvSpPr>
          <p:nvPr>
            <p:ph type="sldNum" idx="12"/>
          </p:nvPr>
        </p:nvSpPr>
        <p:spPr/>
        <p:txBody>
          <a:bodyPr/>
          <a:lstStyle/>
          <a:p>
            <a:fld id="{00000000-1234-1234-1234-123412341234}" type="slidenum">
              <a:rPr lang="en-GB" smtClean="0"/>
              <a:pPr/>
              <a:t>3</a:t>
            </a:fld>
            <a:endParaRPr lang="en-GB"/>
          </a:p>
        </p:txBody>
      </p:sp>
    </p:spTree>
    <p:extLst>
      <p:ext uri="{BB962C8B-B14F-4D97-AF65-F5344CB8AC3E}">
        <p14:creationId xmlns:p14="http://schemas.microsoft.com/office/powerpoint/2010/main" val="1671513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58C3-6FD5-5F44-F80B-EF1DD10270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96D80D-BEBB-2FB1-7E13-848BB931A620}"/>
              </a:ext>
            </a:extLst>
          </p:cNvPr>
          <p:cNvSpPr>
            <a:spLocks noGrp="1"/>
          </p:cNvSpPr>
          <p:nvPr>
            <p:ph type="sldNum" idx="12"/>
          </p:nvPr>
        </p:nvSpPr>
        <p:spPr/>
        <p:txBody>
          <a:bodyPr/>
          <a:lstStyle/>
          <a:p>
            <a:fld id="{00000000-1234-1234-1234-123412341234}" type="slidenum">
              <a:rPr lang="en-GB" smtClean="0"/>
              <a:pPr/>
              <a:t>4</a:t>
            </a:fld>
            <a:endParaRPr lang="en-GB"/>
          </a:p>
        </p:txBody>
      </p:sp>
      <p:sp>
        <p:nvSpPr>
          <p:cNvPr id="3" name="TextBox 2">
            <a:extLst>
              <a:ext uri="{FF2B5EF4-FFF2-40B4-BE49-F238E27FC236}">
                <a16:creationId xmlns:a16="http://schemas.microsoft.com/office/drawing/2014/main" id="{A36DC22F-B2A3-CF51-BA9B-6994EEC916AA}"/>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Theta</a:t>
            </a:r>
          </a:p>
        </p:txBody>
      </p:sp>
      <p:graphicFrame>
        <p:nvGraphicFramePr>
          <p:cNvPr id="5" name="Table 4">
            <a:extLst>
              <a:ext uri="{FF2B5EF4-FFF2-40B4-BE49-F238E27FC236}">
                <a16:creationId xmlns:a16="http://schemas.microsoft.com/office/drawing/2014/main" id="{D9633FD1-473F-971D-4F0F-3629FD5DAB19}"/>
              </a:ext>
            </a:extLst>
          </p:cNvPr>
          <p:cNvGraphicFramePr>
            <a:graphicFrameLocks noGrp="1"/>
          </p:cNvGraphicFramePr>
          <p:nvPr>
            <p:extLst>
              <p:ext uri="{D42A27DB-BD31-4B8C-83A1-F6EECF244321}">
                <p14:modId xmlns:p14="http://schemas.microsoft.com/office/powerpoint/2010/main" val="2336604681"/>
              </p:ext>
            </p:extLst>
          </p:nvPr>
        </p:nvGraphicFramePr>
        <p:xfrm>
          <a:off x="7723104" y="3541529"/>
          <a:ext cx="4158075" cy="2857162"/>
        </p:xfrm>
        <a:graphic>
          <a:graphicData uri="http://schemas.openxmlformats.org/drawingml/2006/table">
            <a:tbl>
              <a:tblPr firstRow="1" bandRow="1">
                <a:tableStyleId>{5C22544A-7EE6-4342-B048-85BDC9FD1C3A}</a:tableStyleId>
              </a:tblPr>
              <a:tblGrid>
                <a:gridCol w="1470133">
                  <a:extLst>
                    <a:ext uri="{9D8B030D-6E8A-4147-A177-3AD203B41FA5}">
                      <a16:colId xmlns:a16="http://schemas.microsoft.com/office/drawing/2014/main" val="1204421765"/>
                    </a:ext>
                  </a:extLst>
                </a:gridCol>
                <a:gridCol w="1301917">
                  <a:extLst>
                    <a:ext uri="{9D8B030D-6E8A-4147-A177-3AD203B41FA5}">
                      <a16:colId xmlns:a16="http://schemas.microsoft.com/office/drawing/2014/main" val="1444401910"/>
                    </a:ext>
                  </a:extLst>
                </a:gridCol>
                <a:gridCol w="1386025">
                  <a:extLst>
                    <a:ext uri="{9D8B030D-6E8A-4147-A177-3AD203B41FA5}">
                      <a16:colId xmlns:a16="http://schemas.microsoft.com/office/drawing/2014/main" val="366672871"/>
                    </a:ext>
                  </a:extLst>
                </a:gridCol>
              </a:tblGrid>
              <a:tr h="601258">
                <a:tc>
                  <a:txBody>
                    <a:bodyPr/>
                    <a:lstStyle/>
                    <a:p>
                      <a:pPr algn="ctr"/>
                      <a:r>
                        <a:rPr lang="en-US" dirty="0"/>
                        <a:t>Theta</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cBGE</a:t>
                      </a:r>
                    </a:p>
                  </a:txBody>
                  <a:tcPr anchor="ctr"/>
                </a:tc>
                <a:tc>
                  <a:txBody>
                    <a:bodyPr/>
                    <a:lstStyle/>
                    <a:p>
                      <a:pPr algn="ctr"/>
                      <a:r>
                        <a:rPr lang="en-US" dirty="0"/>
                        <a:t>WGS</a:t>
                      </a:r>
                    </a:p>
                  </a:txBody>
                  <a:tcPr anchor="ctr"/>
                </a:tc>
                <a:extLst>
                  <a:ext uri="{0D108BD9-81ED-4DB2-BD59-A6C34878D82A}">
                    <a16:rowId xmlns:a16="http://schemas.microsoft.com/office/drawing/2014/main" val="460584278"/>
                  </a:ext>
                </a:extLst>
              </a:tr>
              <a:tr h="343576">
                <a:tc>
                  <a:txBody>
                    <a:bodyPr/>
                    <a:lstStyle/>
                    <a:p>
                      <a:pPr algn="ctr"/>
                      <a:r>
                        <a:rPr lang="en-US" dirty="0">
                          <a:solidFill>
                            <a:schemeClr val="bg2"/>
                          </a:solidFill>
                        </a:rPr>
                        <a:t>Minimum</a:t>
                      </a:r>
                    </a:p>
                  </a:txBody>
                  <a:tcPr anchor="ctr"/>
                </a:tc>
                <a:tc>
                  <a:txBody>
                    <a:bodyPr/>
                    <a:lstStyle/>
                    <a:p>
                      <a:pPr algn="ctr"/>
                      <a:r>
                        <a:rPr lang="en-US" dirty="0">
                          <a:solidFill>
                            <a:schemeClr val="bg2"/>
                          </a:solidFill>
                        </a:rPr>
                        <a:t>1802121</a:t>
                      </a:r>
                    </a:p>
                  </a:txBody>
                  <a:tcPr anchor="ctr"/>
                </a:tc>
                <a:tc>
                  <a:txBody>
                    <a:bodyPr/>
                    <a:lstStyle/>
                    <a:p>
                      <a:pPr algn="ctr"/>
                      <a:r>
                        <a:rPr lang="en-US" dirty="0">
                          <a:solidFill>
                            <a:schemeClr val="bg2"/>
                          </a:solidFill>
                        </a:rPr>
                        <a:t>1222575</a:t>
                      </a:r>
                    </a:p>
                  </a:txBody>
                  <a:tcPr anchor="ctr"/>
                </a:tc>
                <a:extLst>
                  <a:ext uri="{0D108BD9-81ED-4DB2-BD59-A6C34878D82A}">
                    <a16:rowId xmlns:a16="http://schemas.microsoft.com/office/drawing/2014/main" val="2926292192"/>
                  </a:ext>
                </a:extLst>
              </a:tr>
              <a:tr h="343576">
                <a:tc>
                  <a:txBody>
                    <a:bodyPr/>
                    <a:lstStyle/>
                    <a:p>
                      <a:pPr algn="ctr"/>
                      <a:r>
                        <a:rPr lang="en-US" dirty="0">
                          <a:solidFill>
                            <a:schemeClr val="bg2"/>
                          </a:solidFill>
                        </a:rPr>
                        <a:t>1st Quartile</a:t>
                      </a:r>
                    </a:p>
                  </a:txBody>
                  <a:tcPr anchor="ctr"/>
                </a:tc>
                <a:tc>
                  <a:txBody>
                    <a:bodyPr/>
                    <a:lstStyle/>
                    <a:p>
                      <a:pPr algn="ctr"/>
                      <a:r>
                        <a:rPr lang="en-US" dirty="0">
                          <a:solidFill>
                            <a:schemeClr val="bg2"/>
                          </a:solidFill>
                        </a:rPr>
                        <a:t>1944198</a:t>
                      </a:r>
                    </a:p>
                  </a:txBody>
                  <a:tcPr anchor="ctr"/>
                </a:tc>
                <a:tc>
                  <a:txBody>
                    <a:bodyPr/>
                    <a:lstStyle/>
                    <a:p>
                      <a:pPr algn="ctr"/>
                      <a:r>
                        <a:rPr lang="en-US" dirty="0">
                          <a:solidFill>
                            <a:schemeClr val="bg2"/>
                          </a:solidFill>
                        </a:rPr>
                        <a:t>2198994</a:t>
                      </a:r>
                    </a:p>
                  </a:txBody>
                  <a:tcPr anchor="ctr"/>
                </a:tc>
                <a:extLst>
                  <a:ext uri="{0D108BD9-81ED-4DB2-BD59-A6C34878D82A}">
                    <a16:rowId xmlns:a16="http://schemas.microsoft.com/office/drawing/2014/main" val="1290563123"/>
                  </a:ext>
                </a:extLst>
              </a:tr>
              <a:tr h="343576">
                <a:tc>
                  <a:txBody>
                    <a:bodyPr/>
                    <a:lstStyle/>
                    <a:p>
                      <a:pPr algn="ctr"/>
                      <a:r>
                        <a:rPr lang="en-US" dirty="0">
                          <a:solidFill>
                            <a:schemeClr val="bg2"/>
                          </a:solidFill>
                        </a:rPr>
                        <a:t>Median</a:t>
                      </a:r>
                    </a:p>
                  </a:txBody>
                  <a:tcPr anchor="ctr"/>
                </a:tc>
                <a:tc>
                  <a:txBody>
                    <a:bodyPr/>
                    <a:lstStyle/>
                    <a:p>
                      <a:pPr algn="ctr"/>
                      <a:r>
                        <a:rPr lang="en-US" dirty="0">
                          <a:solidFill>
                            <a:schemeClr val="bg2"/>
                          </a:solidFill>
                        </a:rPr>
                        <a:t>2204715</a:t>
                      </a:r>
                    </a:p>
                  </a:txBody>
                  <a:tcPr anchor="ctr"/>
                </a:tc>
                <a:tc>
                  <a:txBody>
                    <a:bodyPr/>
                    <a:lstStyle/>
                    <a:p>
                      <a:pPr algn="ctr"/>
                      <a:r>
                        <a:rPr lang="en-US" dirty="0">
                          <a:solidFill>
                            <a:schemeClr val="bg2"/>
                          </a:solidFill>
                        </a:rPr>
                        <a:t>2225049</a:t>
                      </a:r>
                    </a:p>
                  </a:txBody>
                  <a:tcPr anchor="ctr"/>
                </a:tc>
                <a:extLst>
                  <a:ext uri="{0D108BD9-81ED-4DB2-BD59-A6C34878D82A}">
                    <a16:rowId xmlns:a16="http://schemas.microsoft.com/office/drawing/2014/main" val="1336683413"/>
                  </a:ext>
                </a:extLst>
              </a:tr>
              <a:tr h="343576">
                <a:tc>
                  <a:txBody>
                    <a:bodyPr/>
                    <a:lstStyle/>
                    <a:p>
                      <a:pPr algn="ctr"/>
                      <a:r>
                        <a:rPr lang="en-US" dirty="0">
                          <a:solidFill>
                            <a:schemeClr val="bg2"/>
                          </a:solidFill>
                        </a:rPr>
                        <a:t>Mean</a:t>
                      </a:r>
                    </a:p>
                  </a:txBody>
                  <a:tcPr anchor="ctr"/>
                </a:tc>
                <a:tc>
                  <a:txBody>
                    <a:bodyPr/>
                    <a:lstStyle/>
                    <a:p>
                      <a:pPr algn="ctr"/>
                      <a:r>
                        <a:rPr lang="en-US" dirty="0">
                          <a:solidFill>
                            <a:schemeClr val="bg2"/>
                          </a:solidFill>
                        </a:rPr>
                        <a:t>2117041</a:t>
                      </a:r>
                    </a:p>
                  </a:txBody>
                  <a:tcPr anchor="ctr"/>
                </a:tc>
                <a:tc>
                  <a:txBody>
                    <a:bodyPr/>
                    <a:lstStyle/>
                    <a:p>
                      <a:pPr algn="ctr"/>
                      <a:r>
                        <a:rPr lang="en-US" dirty="0">
                          <a:solidFill>
                            <a:schemeClr val="bg2"/>
                          </a:solidFill>
                        </a:rPr>
                        <a:t>2207967</a:t>
                      </a:r>
                    </a:p>
                  </a:txBody>
                  <a:tcPr anchor="ctr"/>
                </a:tc>
                <a:extLst>
                  <a:ext uri="{0D108BD9-81ED-4DB2-BD59-A6C34878D82A}">
                    <a16:rowId xmlns:a16="http://schemas.microsoft.com/office/drawing/2014/main" val="2761378010"/>
                  </a:ext>
                </a:extLst>
              </a:tr>
              <a:tr h="343576">
                <a:tc>
                  <a:txBody>
                    <a:bodyPr/>
                    <a:lstStyle/>
                    <a:p>
                      <a:pPr algn="ctr"/>
                      <a:r>
                        <a:rPr lang="en-US" dirty="0">
                          <a:solidFill>
                            <a:schemeClr val="bg2"/>
                          </a:solidFill>
                        </a:rPr>
                        <a:t>3</a:t>
                      </a:r>
                      <a:r>
                        <a:rPr lang="en-US" baseline="30000" dirty="0">
                          <a:solidFill>
                            <a:schemeClr val="bg2"/>
                          </a:solidFill>
                        </a:rPr>
                        <a:t>rd</a:t>
                      </a:r>
                      <a:r>
                        <a:rPr lang="en-US" dirty="0">
                          <a:solidFill>
                            <a:schemeClr val="bg2"/>
                          </a:solidFill>
                        </a:rPr>
                        <a:t> Quartile</a:t>
                      </a:r>
                    </a:p>
                  </a:txBody>
                  <a:tcPr anchor="ctr"/>
                </a:tc>
                <a:tc>
                  <a:txBody>
                    <a:bodyPr/>
                    <a:lstStyle/>
                    <a:p>
                      <a:pPr algn="ctr"/>
                      <a:r>
                        <a:rPr lang="en-US" dirty="0">
                          <a:solidFill>
                            <a:schemeClr val="bg2"/>
                          </a:solidFill>
                        </a:rPr>
                        <a:t>2238944</a:t>
                      </a:r>
                    </a:p>
                  </a:txBody>
                  <a:tcPr anchor="ctr"/>
                </a:tc>
                <a:tc>
                  <a:txBody>
                    <a:bodyPr/>
                    <a:lstStyle/>
                    <a:p>
                      <a:pPr algn="ctr"/>
                      <a:r>
                        <a:rPr lang="en-US" dirty="0">
                          <a:solidFill>
                            <a:schemeClr val="bg2"/>
                          </a:solidFill>
                        </a:rPr>
                        <a:t>2242157</a:t>
                      </a:r>
                    </a:p>
                  </a:txBody>
                  <a:tcPr anchor="ctr"/>
                </a:tc>
                <a:extLst>
                  <a:ext uri="{0D108BD9-81ED-4DB2-BD59-A6C34878D82A}">
                    <a16:rowId xmlns:a16="http://schemas.microsoft.com/office/drawing/2014/main" val="1630894396"/>
                  </a:ext>
                </a:extLst>
              </a:tr>
              <a:tr h="343576">
                <a:tc>
                  <a:txBody>
                    <a:bodyPr/>
                    <a:lstStyle/>
                    <a:p>
                      <a:pPr algn="ctr"/>
                      <a:r>
                        <a:rPr lang="en-US" dirty="0">
                          <a:solidFill>
                            <a:schemeClr val="bg2"/>
                          </a:solidFill>
                        </a:rPr>
                        <a:t>Maximum</a:t>
                      </a:r>
                    </a:p>
                  </a:txBody>
                  <a:tcPr anchor="ctr"/>
                </a:tc>
                <a:tc>
                  <a:txBody>
                    <a:bodyPr/>
                    <a:lstStyle/>
                    <a:p>
                      <a:pPr algn="ctr"/>
                      <a:r>
                        <a:rPr lang="en-US" dirty="0">
                          <a:solidFill>
                            <a:schemeClr val="bg2"/>
                          </a:solidFill>
                        </a:rPr>
                        <a:t>2293417</a:t>
                      </a:r>
                    </a:p>
                  </a:txBody>
                  <a:tcPr anchor="ctr"/>
                </a:tc>
                <a:tc>
                  <a:txBody>
                    <a:bodyPr/>
                    <a:lstStyle/>
                    <a:p>
                      <a:pPr algn="ctr"/>
                      <a:r>
                        <a:rPr lang="en-US" dirty="0">
                          <a:solidFill>
                            <a:schemeClr val="bg2"/>
                          </a:solidFill>
                        </a:rPr>
                        <a:t>2281187</a:t>
                      </a:r>
                    </a:p>
                  </a:txBody>
                  <a:tcPr anchor="ctr"/>
                </a:tc>
                <a:extLst>
                  <a:ext uri="{0D108BD9-81ED-4DB2-BD59-A6C34878D82A}">
                    <a16:rowId xmlns:a16="http://schemas.microsoft.com/office/drawing/2014/main" val="1145421922"/>
                  </a:ext>
                </a:extLst>
              </a:tr>
            </a:tbl>
          </a:graphicData>
        </a:graphic>
      </p:graphicFrame>
      <p:pic>
        <p:nvPicPr>
          <p:cNvPr id="6" name="Picture 2" descr="d93bdf80a377abb61b11ecd0b945b20b27819a22b16d14bd46f10136f027bf86">
            <a:extLst>
              <a:ext uri="{FF2B5EF4-FFF2-40B4-BE49-F238E27FC236}">
                <a16:creationId xmlns:a16="http://schemas.microsoft.com/office/drawing/2014/main" id="{991126BE-5A45-56CF-7EEC-47253EFCE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7633" y="1022017"/>
            <a:ext cx="1236801" cy="83055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E31432A-FC10-5A41-2EB7-2121936F36D1}"/>
              </a:ext>
            </a:extLst>
          </p:cNvPr>
          <p:cNvSpPr txBox="1"/>
          <p:nvPr/>
        </p:nvSpPr>
        <p:spPr>
          <a:xfrm>
            <a:off x="7920587" y="1995777"/>
            <a:ext cx="3763108"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bg2"/>
                </a:solidFill>
                <a:latin typeface="Arial" panose="020B0604020202020204" pitchFamily="34" charset="0"/>
                <a:cs typeface="Arial" panose="020B0604020202020204" pitchFamily="34" charset="0"/>
              </a:rPr>
              <a:t>Theta is a measure of genetic diversity within a population based upon polymorphic sites</a:t>
            </a:r>
          </a:p>
          <a:p>
            <a:pPr marL="171450" indent="-171450">
              <a:buFont typeface="Arial" panose="020B0604020202020204" pitchFamily="34" charset="0"/>
              <a:buChar char="•"/>
            </a:pPr>
            <a:endParaRPr lang="en-US" sz="1200" dirty="0">
              <a:solidFill>
                <a:schemeClr val="bg2"/>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chemeClr val="bg2"/>
                </a:solidFill>
                <a:latin typeface="Arial" panose="020B0604020202020204" pitchFamily="34" charset="0"/>
                <a:cs typeface="Arial" panose="020B0604020202020204" pitchFamily="34" charset="0"/>
              </a:rPr>
              <a:t>The higher the sample size, the greater the number of polymorphisms hence theta will be increased</a:t>
            </a:r>
          </a:p>
        </p:txBody>
      </p:sp>
      <p:pic>
        <p:nvPicPr>
          <p:cNvPr id="8" name="Picture 7">
            <a:extLst>
              <a:ext uri="{FF2B5EF4-FFF2-40B4-BE49-F238E27FC236}">
                <a16:creationId xmlns:a16="http://schemas.microsoft.com/office/drawing/2014/main" id="{958747C7-27FB-4A7C-DD31-E55AE5C11BDF}"/>
              </a:ext>
            </a:extLst>
          </p:cNvPr>
          <p:cNvPicPr>
            <a:picLocks noChangeAspect="1"/>
          </p:cNvPicPr>
          <p:nvPr/>
        </p:nvPicPr>
        <p:blipFill>
          <a:blip r:embed="rId3"/>
          <a:stretch>
            <a:fillRect/>
          </a:stretch>
        </p:blipFill>
        <p:spPr>
          <a:xfrm>
            <a:off x="232157" y="1437293"/>
            <a:ext cx="7490947" cy="3745474"/>
          </a:xfrm>
          <a:prstGeom prst="rect">
            <a:avLst/>
          </a:prstGeom>
        </p:spPr>
      </p:pic>
    </p:spTree>
    <p:extLst>
      <p:ext uri="{BB962C8B-B14F-4D97-AF65-F5344CB8AC3E}">
        <p14:creationId xmlns:p14="http://schemas.microsoft.com/office/powerpoint/2010/main" val="1969185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A718-A42B-FBAA-57EF-69C046CB3A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BA5862-699E-A4CE-00B0-6735DF1C9EFE}"/>
              </a:ext>
            </a:extLst>
          </p:cNvPr>
          <p:cNvSpPr>
            <a:spLocks noGrp="1"/>
          </p:cNvSpPr>
          <p:nvPr>
            <p:ph type="sldNum" idx="12"/>
          </p:nvPr>
        </p:nvSpPr>
        <p:spPr/>
        <p:txBody>
          <a:bodyPr/>
          <a:lstStyle/>
          <a:p>
            <a:fld id="{00000000-1234-1234-1234-123412341234}" type="slidenum">
              <a:rPr lang="en-GB" smtClean="0"/>
              <a:pPr/>
              <a:t>5</a:t>
            </a:fld>
            <a:endParaRPr lang="en-GB"/>
          </a:p>
        </p:txBody>
      </p:sp>
      <p:sp>
        <p:nvSpPr>
          <p:cNvPr id="3" name="TextBox 2">
            <a:extLst>
              <a:ext uri="{FF2B5EF4-FFF2-40B4-BE49-F238E27FC236}">
                <a16:creationId xmlns:a16="http://schemas.microsoft.com/office/drawing/2014/main" id="{34D19C09-90F6-62EB-AD70-779E73F7CAC4}"/>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Theta by Ancestry</a:t>
            </a:r>
          </a:p>
        </p:txBody>
      </p:sp>
      <p:pic>
        <p:nvPicPr>
          <p:cNvPr id="4" name="Picture 3">
            <a:extLst>
              <a:ext uri="{FF2B5EF4-FFF2-40B4-BE49-F238E27FC236}">
                <a16:creationId xmlns:a16="http://schemas.microsoft.com/office/drawing/2014/main" id="{B8563774-2EA8-F166-60E3-574102FB276D}"/>
              </a:ext>
            </a:extLst>
          </p:cNvPr>
          <p:cNvPicPr>
            <a:picLocks noChangeAspect="1"/>
          </p:cNvPicPr>
          <p:nvPr/>
        </p:nvPicPr>
        <p:blipFill>
          <a:blip r:embed="rId2"/>
          <a:stretch>
            <a:fillRect/>
          </a:stretch>
        </p:blipFill>
        <p:spPr>
          <a:xfrm>
            <a:off x="325243" y="842553"/>
            <a:ext cx="11325498" cy="5662749"/>
          </a:xfrm>
          <a:prstGeom prst="rect">
            <a:avLst/>
          </a:prstGeom>
        </p:spPr>
      </p:pic>
    </p:spTree>
    <p:extLst>
      <p:ext uri="{BB962C8B-B14F-4D97-AF65-F5344CB8AC3E}">
        <p14:creationId xmlns:p14="http://schemas.microsoft.com/office/powerpoint/2010/main" val="60263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2435-B71B-8524-088E-2FB28DB373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CB8409-F19C-2008-7E29-1EF3382582C2}"/>
              </a:ext>
            </a:extLst>
          </p:cNvPr>
          <p:cNvSpPr>
            <a:spLocks noGrp="1"/>
          </p:cNvSpPr>
          <p:nvPr>
            <p:ph type="sldNum" idx="12"/>
          </p:nvPr>
        </p:nvSpPr>
        <p:spPr/>
        <p:txBody>
          <a:bodyPr/>
          <a:lstStyle/>
          <a:p>
            <a:fld id="{00000000-1234-1234-1234-123412341234}" type="slidenum">
              <a:rPr lang="en-GB" smtClean="0"/>
              <a:pPr/>
              <a:t>6</a:t>
            </a:fld>
            <a:endParaRPr lang="en-GB"/>
          </a:p>
        </p:txBody>
      </p:sp>
      <p:sp>
        <p:nvSpPr>
          <p:cNvPr id="3" name="TextBox 2">
            <a:extLst>
              <a:ext uri="{FF2B5EF4-FFF2-40B4-BE49-F238E27FC236}">
                <a16:creationId xmlns:a16="http://schemas.microsoft.com/office/drawing/2014/main" id="{E960DAD6-D026-5CDD-53DD-B89A7C5D0663}"/>
              </a:ext>
            </a:extLst>
          </p:cNvPr>
          <p:cNvSpPr txBox="1"/>
          <p:nvPr/>
        </p:nvSpPr>
        <p:spPr>
          <a:xfrm>
            <a:off x="3840750" y="173259"/>
            <a:ext cx="4510499"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Transitions/Transversions Ratio</a:t>
            </a:r>
          </a:p>
        </p:txBody>
      </p:sp>
      <p:graphicFrame>
        <p:nvGraphicFramePr>
          <p:cNvPr id="4" name="Table 3">
            <a:extLst>
              <a:ext uri="{FF2B5EF4-FFF2-40B4-BE49-F238E27FC236}">
                <a16:creationId xmlns:a16="http://schemas.microsoft.com/office/drawing/2014/main" id="{8C5D7963-B9BD-399D-E8A5-0A3A02FDF627}"/>
              </a:ext>
            </a:extLst>
          </p:cNvPr>
          <p:cNvGraphicFramePr>
            <a:graphicFrameLocks noGrp="1"/>
          </p:cNvGraphicFramePr>
          <p:nvPr>
            <p:extLst>
              <p:ext uri="{D42A27DB-BD31-4B8C-83A1-F6EECF244321}">
                <p14:modId xmlns:p14="http://schemas.microsoft.com/office/powerpoint/2010/main" val="1919439175"/>
              </p:ext>
            </p:extLst>
          </p:nvPr>
        </p:nvGraphicFramePr>
        <p:xfrm>
          <a:off x="7687934" y="1761966"/>
          <a:ext cx="4158075" cy="2857162"/>
        </p:xfrm>
        <a:graphic>
          <a:graphicData uri="http://schemas.openxmlformats.org/drawingml/2006/table">
            <a:tbl>
              <a:tblPr firstRow="1" bandRow="1">
                <a:tableStyleId>{5C22544A-7EE6-4342-B048-85BDC9FD1C3A}</a:tableStyleId>
              </a:tblPr>
              <a:tblGrid>
                <a:gridCol w="1667081">
                  <a:extLst>
                    <a:ext uri="{9D8B030D-6E8A-4147-A177-3AD203B41FA5}">
                      <a16:colId xmlns:a16="http://schemas.microsoft.com/office/drawing/2014/main" val="1204421765"/>
                    </a:ext>
                  </a:extLst>
                </a:gridCol>
                <a:gridCol w="1104969">
                  <a:extLst>
                    <a:ext uri="{9D8B030D-6E8A-4147-A177-3AD203B41FA5}">
                      <a16:colId xmlns:a16="http://schemas.microsoft.com/office/drawing/2014/main" val="1444401910"/>
                    </a:ext>
                  </a:extLst>
                </a:gridCol>
                <a:gridCol w="1386025">
                  <a:extLst>
                    <a:ext uri="{9D8B030D-6E8A-4147-A177-3AD203B41FA5}">
                      <a16:colId xmlns:a16="http://schemas.microsoft.com/office/drawing/2014/main" val="366672871"/>
                    </a:ext>
                  </a:extLst>
                </a:gridCol>
              </a:tblGrid>
              <a:tr h="601258">
                <a:tc>
                  <a:txBody>
                    <a:bodyPr/>
                    <a:lstStyle/>
                    <a:p>
                      <a:pPr algn="ctr"/>
                      <a:r>
                        <a:rPr lang="en-US" sz="1500" dirty="0"/>
                        <a:t>Transitions/</a:t>
                      </a:r>
                    </a:p>
                    <a:p>
                      <a:pPr algn="ctr"/>
                      <a:r>
                        <a:rPr lang="en-US" sz="1500" dirty="0"/>
                        <a:t>Transversions</a:t>
                      </a:r>
                    </a:p>
                  </a:txBody>
                  <a:tcPr anchor="ctr"/>
                </a:tc>
                <a:tc>
                  <a:txBody>
                    <a:bodyPr/>
                    <a:lstStyle/>
                    <a:p>
                      <a:pPr algn="ctr"/>
                      <a:r>
                        <a:rPr lang="en-US" dirty="0"/>
                        <a:t>cBGE</a:t>
                      </a:r>
                    </a:p>
                  </a:txBody>
                  <a:tcPr anchor="ctr"/>
                </a:tc>
                <a:tc>
                  <a:txBody>
                    <a:bodyPr/>
                    <a:lstStyle/>
                    <a:p>
                      <a:pPr algn="ctr"/>
                      <a:r>
                        <a:rPr lang="en-US" dirty="0"/>
                        <a:t>WGS</a:t>
                      </a:r>
                    </a:p>
                  </a:txBody>
                  <a:tcPr anchor="ctr"/>
                </a:tc>
                <a:extLst>
                  <a:ext uri="{0D108BD9-81ED-4DB2-BD59-A6C34878D82A}">
                    <a16:rowId xmlns:a16="http://schemas.microsoft.com/office/drawing/2014/main" val="460584278"/>
                  </a:ext>
                </a:extLst>
              </a:tr>
              <a:tr h="343576">
                <a:tc>
                  <a:txBody>
                    <a:bodyPr/>
                    <a:lstStyle/>
                    <a:p>
                      <a:pPr algn="ctr"/>
                      <a:r>
                        <a:rPr lang="en-US" dirty="0">
                          <a:solidFill>
                            <a:schemeClr val="bg2"/>
                          </a:solidFill>
                        </a:rPr>
                        <a:t>Minimum</a:t>
                      </a:r>
                    </a:p>
                  </a:txBody>
                  <a:tcPr anchor="ctr"/>
                </a:tc>
                <a:tc>
                  <a:txBody>
                    <a:bodyPr/>
                    <a:lstStyle/>
                    <a:p>
                      <a:pPr algn="ctr"/>
                      <a:r>
                        <a:rPr lang="en-US" dirty="0">
                          <a:solidFill>
                            <a:schemeClr val="bg2"/>
                          </a:solidFill>
                        </a:rPr>
                        <a:t>2.269</a:t>
                      </a:r>
                    </a:p>
                  </a:txBody>
                  <a:tcPr anchor="ctr"/>
                </a:tc>
                <a:tc>
                  <a:txBody>
                    <a:bodyPr/>
                    <a:lstStyle/>
                    <a:p>
                      <a:pPr algn="ctr"/>
                      <a:r>
                        <a:rPr lang="en-US" dirty="0">
                          <a:solidFill>
                            <a:schemeClr val="bg2"/>
                          </a:solidFill>
                        </a:rPr>
                        <a:t>2.256</a:t>
                      </a:r>
                    </a:p>
                  </a:txBody>
                  <a:tcPr anchor="ctr"/>
                </a:tc>
                <a:extLst>
                  <a:ext uri="{0D108BD9-81ED-4DB2-BD59-A6C34878D82A}">
                    <a16:rowId xmlns:a16="http://schemas.microsoft.com/office/drawing/2014/main" val="2926292192"/>
                  </a:ext>
                </a:extLst>
              </a:tr>
              <a:tr h="343576">
                <a:tc>
                  <a:txBody>
                    <a:bodyPr/>
                    <a:lstStyle/>
                    <a:p>
                      <a:pPr algn="ctr"/>
                      <a:r>
                        <a:rPr lang="en-US" dirty="0">
                          <a:solidFill>
                            <a:schemeClr val="bg2"/>
                          </a:solidFill>
                        </a:rPr>
                        <a:t>1st Quartile</a:t>
                      </a:r>
                    </a:p>
                  </a:txBody>
                  <a:tcPr anchor="ctr"/>
                </a:tc>
                <a:tc>
                  <a:txBody>
                    <a:bodyPr/>
                    <a:lstStyle/>
                    <a:p>
                      <a:pPr algn="ctr"/>
                      <a:r>
                        <a:rPr lang="en-US" dirty="0">
                          <a:solidFill>
                            <a:schemeClr val="bg2"/>
                          </a:solidFill>
                        </a:rPr>
                        <a:t>2.275</a:t>
                      </a:r>
                    </a:p>
                  </a:txBody>
                  <a:tcPr anchor="ctr"/>
                </a:tc>
                <a:tc>
                  <a:txBody>
                    <a:bodyPr/>
                    <a:lstStyle/>
                    <a:p>
                      <a:pPr algn="ctr"/>
                      <a:r>
                        <a:rPr lang="en-US" dirty="0">
                          <a:solidFill>
                            <a:schemeClr val="bg2"/>
                          </a:solidFill>
                        </a:rPr>
                        <a:t>2.275</a:t>
                      </a:r>
                    </a:p>
                  </a:txBody>
                  <a:tcPr anchor="ctr"/>
                </a:tc>
                <a:extLst>
                  <a:ext uri="{0D108BD9-81ED-4DB2-BD59-A6C34878D82A}">
                    <a16:rowId xmlns:a16="http://schemas.microsoft.com/office/drawing/2014/main" val="1290563123"/>
                  </a:ext>
                </a:extLst>
              </a:tr>
              <a:tr h="343576">
                <a:tc>
                  <a:txBody>
                    <a:bodyPr/>
                    <a:lstStyle/>
                    <a:p>
                      <a:pPr algn="ctr"/>
                      <a:r>
                        <a:rPr lang="en-US" dirty="0">
                          <a:solidFill>
                            <a:schemeClr val="bg2"/>
                          </a:solidFill>
                        </a:rPr>
                        <a:t>Median</a:t>
                      </a:r>
                    </a:p>
                  </a:txBody>
                  <a:tcPr anchor="ctr"/>
                </a:tc>
                <a:tc>
                  <a:txBody>
                    <a:bodyPr/>
                    <a:lstStyle/>
                    <a:p>
                      <a:pPr algn="ctr"/>
                      <a:r>
                        <a:rPr lang="en-US" dirty="0">
                          <a:solidFill>
                            <a:schemeClr val="bg2"/>
                          </a:solidFill>
                        </a:rPr>
                        <a:t>2.277</a:t>
                      </a:r>
                    </a:p>
                  </a:txBody>
                  <a:tcPr anchor="ctr"/>
                </a:tc>
                <a:tc>
                  <a:txBody>
                    <a:bodyPr/>
                    <a:lstStyle/>
                    <a:p>
                      <a:pPr algn="ctr"/>
                      <a:r>
                        <a:rPr lang="en-US" dirty="0">
                          <a:solidFill>
                            <a:schemeClr val="bg2"/>
                          </a:solidFill>
                        </a:rPr>
                        <a:t>2.276</a:t>
                      </a:r>
                    </a:p>
                  </a:txBody>
                  <a:tcPr anchor="ctr"/>
                </a:tc>
                <a:extLst>
                  <a:ext uri="{0D108BD9-81ED-4DB2-BD59-A6C34878D82A}">
                    <a16:rowId xmlns:a16="http://schemas.microsoft.com/office/drawing/2014/main" val="1336683413"/>
                  </a:ext>
                </a:extLst>
              </a:tr>
              <a:tr h="343576">
                <a:tc>
                  <a:txBody>
                    <a:bodyPr/>
                    <a:lstStyle/>
                    <a:p>
                      <a:pPr algn="ctr"/>
                      <a:r>
                        <a:rPr lang="en-US" dirty="0">
                          <a:solidFill>
                            <a:schemeClr val="bg2"/>
                          </a:solidFill>
                        </a:rPr>
                        <a:t>Mean</a:t>
                      </a:r>
                    </a:p>
                  </a:txBody>
                  <a:tcPr anchor="ctr"/>
                </a:tc>
                <a:tc>
                  <a:txBody>
                    <a:bodyPr/>
                    <a:lstStyle/>
                    <a:p>
                      <a:pPr algn="ctr"/>
                      <a:r>
                        <a:rPr lang="en-US" dirty="0">
                          <a:solidFill>
                            <a:schemeClr val="bg2"/>
                          </a:solidFill>
                        </a:rPr>
                        <a:t>2.278</a:t>
                      </a:r>
                    </a:p>
                  </a:txBody>
                  <a:tcPr anchor="ctr"/>
                </a:tc>
                <a:tc>
                  <a:txBody>
                    <a:bodyPr/>
                    <a:lstStyle/>
                    <a:p>
                      <a:pPr algn="ctr"/>
                      <a:r>
                        <a:rPr lang="en-US" dirty="0">
                          <a:solidFill>
                            <a:schemeClr val="bg2"/>
                          </a:solidFill>
                        </a:rPr>
                        <a:t>2.276</a:t>
                      </a:r>
                    </a:p>
                  </a:txBody>
                  <a:tcPr anchor="ctr"/>
                </a:tc>
                <a:extLst>
                  <a:ext uri="{0D108BD9-81ED-4DB2-BD59-A6C34878D82A}">
                    <a16:rowId xmlns:a16="http://schemas.microsoft.com/office/drawing/2014/main" val="2761378010"/>
                  </a:ext>
                </a:extLst>
              </a:tr>
              <a:tr h="343576">
                <a:tc>
                  <a:txBody>
                    <a:bodyPr/>
                    <a:lstStyle/>
                    <a:p>
                      <a:pPr algn="ctr"/>
                      <a:r>
                        <a:rPr lang="en-US" dirty="0">
                          <a:solidFill>
                            <a:schemeClr val="bg2"/>
                          </a:solidFill>
                        </a:rPr>
                        <a:t>3</a:t>
                      </a:r>
                      <a:r>
                        <a:rPr lang="en-US" baseline="30000" dirty="0">
                          <a:solidFill>
                            <a:schemeClr val="bg2"/>
                          </a:solidFill>
                        </a:rPr>
                        <a:t>rd</a:t>
                      </a:r>
                      <a:r>
                        <a:rPr lang="en-US" dirty="0">
                          <a:solidFill>
                            <a:schemeClr val="bg2"/>
                          </a:solidFill>
                        </a:rPr>
                        <a:t> Quartile</a:t>
                      </a:r>
                    </a:p>
                  </a:txBody>
                  <a:tcPr anchor="ctr"/>
                </a:tc>
                <a:tc>
                  <a:txBody>
                    <a:bodyPr/>
                    <a:lstStyle/>
                    <a:p>
                      <a:pPr algn="ctr"/>
                      <a:r>
                        <a:rPr lang="en-US" dirty="0">
                          <a:solidFill>
                            <a:schemeClr val="bg2"/>
                          </a:solidFill>
                        </a:rPr>
                        <a:t>2.281</a:t>
                      </a:r>
                    </a:p>
                  </a:txBody>
                  <a:tcPr anchor="ctr"/>
                </a:tc>
                <a:tc>
                  <a:txBody>
                    <a:bodyPr/>
                    <a:lstStyle/>
                    <a:p>
                      <a:pPr algn="ctr"/>
                      <a:r>
                        <a:rPr lang="en-US" dirty="0">
                          <a:solidFill>
                            <a:schemeClr val="bg2"/>
                          </a:solidFill>
                        </a:rPr>
                        <a:t>2.278</a:t>
                      </a:r>
                    </a:p>
                  </a:txBody>
                  <a:tcPr anchor="ctr"/>
                </a:tc>
                <a:extLst>
                  <a:ext uri="{0D108BD9-81ED-4DB2-BD59-A6C34878D82A}">
                    <a16:rowId xmlns:a16="http://schemas.microsoft.com/office/drawing/2014/main" val="1630894396"/>
                  </a:ext>
                </a:extLst>
              </a:tr>
              <a:tr h="343576">
                <a:tc>
                  <a:txBody>
                    <a:bodyPr/>
                    <a:lstStyle/>
                    <a:p>
                      <a:pPr algn="ctr"/>
                      <a:r>
                        <a:rPr lang="en-US" dirty="0">
                          <a:solidFill>
                            <a:schemeClr val="bg2"/>
                          </a:solidFill>
                        </a:rPr>
                        <a:t>Maximum</a:t>
                      </a:r>
                    </a:p>
                  </a:txBody>
                  <a:tcPr anchor="ctr"/>
                </a:tc>
                <a:tc>
                  <a:txBody>
                    <a:bodyPr/>
                    <a:lstStyle/>
                    <a:p>
                      <a:pPr algn="ctr"/>
                      <a:r>
                        <a:rPr lang="en-US" dirty="0">
                          <a:solidFill>
                            <a:schemeClr val="bg2"/>
                          </a:solidFill>
                        </a:rPr>
                        <a:t>2.290</a:t>
                      </a:r>
                    </a:p>
                  </a:txBody>
                  <a:tcPr anchor="ctr"/>
                </a:tc>
                <a:tc>
                  <a:txBody>
                    <a:bodyPr/>
                    <a:lstStyle/>
                    <a:p>
                      <a:pPr algn="ctr"/>
                      <a:r>
                        <a:rPr lang="en-US" dirty="0">
                          <a:solidFill>
                            <a:schemeClr val="bg2"/>
                          </a:solidFill>
                        </a:rPr>
                        <a:t>2.310</a:t>
                      </a:r>
                    </a:p>
                  </a:txBody>
                  <a:tcPr anchor="ctr"/>
                </a:tc>
                <a:extLst>
                  <a:ext uri="{0D108BD9-81ED-4DB2-BD59-A6C34878D82A}">
                    <a16:rowId xmlns:a16="http://schemas.microsoft.com/office/drawing/2014/main" val="1145421922"/>
                  </a:ext>
                </a:extLst>
              </a:tr>
            </a:tbl>
          </a:graphicData>
        </a:graphic>
      </p:graphicFrame>
      <p:pic>
        <p:nvPicPr>
          <p:cNvPr id="6" name="Picture 5">
            <a:extLst>
              <a:ext uri="{FF2B5EF4-FFF2-40B4-BE49-F238E27FC236}">
                <a16:creationId xmlns:a16="http://schemas.microsoft.com/office/drawing/2014/main" id="{E15AAEF3-83A3-B05B-992D-461EB524827D}"/>
              </a:ext>
            </a:extLst>
          </p:cNvPr>
          <p:cNvPicPr>
            <a:picLocks noChangeAspect="1"/>
          </p:cNvPicPr>
          <p:nvPr/>
        </p:nvPicPr>
        <p:blipFill>
          <a:blip r:embed="rId2"/>
          <a:stretch>
            <a:fillRect/>
          </a:stretch>
        </p:blipFill>
        <p:spPr>
          <a:xfrm>
            <a:off x="72288" y="1286635"/>
            <a:ext cx="7615646" cy="3807823"/>
          </a:xfrm>
          <a:prstGeom prst="rect">
            <a:avLst/>
          </a:prstGeom>
        </p:spPr>
      </p:pic>
    </p:spTree>
    <p:extLst>
      <p:ext uri="{BB962C8B-B14F-4D97-AF65-F5344CB8AC3E}">
        <p14:creationId xmlns:p14="http://schemas.microsoft.com/office/powerpoint/2010/main" val="4097525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D8C7E-12FF-1AF7-6E29-4878A2DCAB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85A658-A685-C187-F795-10FBE93D196E}"/>
              </a:ext>
            </a:extLst>
          </p:cNvPr>
          <p:cNvSpPr>
            <a:spLocks noGrp="1"/>
          </p:cNvSpPr>
          <p:nvPr>
            <p:ph type="sldNum" idx="12"/>
          </p:nvPr>
        </p:nvSpPr>
        <p:spPr/>
        <p:txBody>
          <a:bodyPr/>
          <a:lstStyle/>
          <a:p>
            <a:fld id="{00000000-1234-1234-1234-123412341234}" type="slidenum">
              <a:rPr lang="en-GB" smtClean="0"/>
              <a:pPr/>
              <a:t>7</a:t>
            </a:fld>
            <a:endParaRPr lang="en-GB"/>
          </a:p>
        </p:txBody>
      </p:sp>
      <p:sp>
        <p:nvSpPr>
          <p:cNvPr id="3" name="TextBox 2">
            <a:extLst>
              <a:ext uri="{FF2B5EF4-FFF2-40B4-BE49-F238E27FC236}">
                <a16:creationId xmlns:a16="http://schemas.microsoft.com/office/drawing/2014/main" id="{067C0C76-FA00-A1AD-5B03-1077B5CECB1F}"/>
              </a:ext>
            </a:extLst>
          </p:cNvPr>
          <p:cNvSpPr txBox="1"/>
          <p:nvPr/>
        </p:nvSpPr>
        <p:spPr>
          <a:xfrm>
            <a:off x="3057250" y="155841"/>
            <a:ext cx="6077500"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Transitions/Transversions Ratio by Ancestry</a:t>
            </a:r>
          </a:p>
        </p:txBody>
      </p:sp>
      <p:pic>
        <p:nvPicPr>
          <p:cNvPr id="5" name="Picture 4">
            <a:extLst>
              <a:ext uri="{FF2B5EF4-FFF2-40B4-BE49-F238E27FC236}">
                <a16:creationId xmlns:a16="http://schemas.microsoft.com/office/drawing/2014/main" id="{6F8AF720-5A78-C39A-EB03-7A00D02E8183}"/>
              </a:ext>
            </a:extLst>
          </p:cNvPr>
          <p:cNvPicPr>
            <a:picLocks noChangeAspect="1"/>
          </p:cNvPicPr>
          <p:nvPr/>
        </p:nvPicPr>
        <p:blipFill>
          <a:blip r:embed="rId2"/>
          <a:stretch>
            <a:fillRect/>
          </a:stretch>
        </p:blipFill>
        <p:spPr>
          <a:xfrm>
            <a:off x="265284" y="854409"/>
            <a:ext cx="11482252" cy="5741126"/>
          </a:xfrm>
          <a:prstGeom prst="rect">
            <a:avLst/>
          </a:prstGeom>
        </p:spPr>
      </p:pic>
    </p:spTree>
    <p:extLst>
      <p:ext uri="{BB962C8B-B14F-4D97-AF65-F5344CB8AC3E}">
        <p14:creationId xmlns:p14="http://schemas.microsoft.com/office/powerpoint/2010/main" val="231937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7B1F-A809-2DF0-E2D3-C899E34050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FBE45B-DEC3-A586-73FD-73D674336745}"/>
              </a:ext>
            </a:extLst>
          </p:cNvPr>
          <p:cNvSpPr>
            <a:spLocks noGrp="1"/>
          </p:cNvSpPr>
          <p:nvPr>
            <p:ph type="sldNum" idx="12"/>
          </p:nvPr>
        </p:nvSpPr>
        <p:spPr/>
        <p:txBody>
          <a:bodyPr/>
          <a:lstStyle/>
          <a:p>
            <a:fld id="{00000000-1234-1234-1234-123412341234}" type="slidenum">
              <a:rPr lang="en-GB" smtClean="0"/>
              <a:pPr/>
              <a:t>8</a:t>
            </a:fld>
            <a:endParaRPr lang="en-GB"/>
          </a:p>
        </p:txBody>
      </p:sp>
      <p:sp>
        <p:nvSpPr>
          <p:cNvPr id="3" name="TextBox 2">
            <a:extLst>
              <a:ext uri="{FF2B5EF4-FFF2-40B4-BE49-F238E27FC236}">
                <a16:creationId xmlns:a16="http://schemas.microsoft.com/office/drawing/2014/main" id="{3C9E0302-0145-4CE5-4C63-6E87C36DB18C}"/>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Theta Exonic</a:t>
            </a:r>
          </a:p>
        </p:txBody>
      </p:sp>
      <p:graphicFrame>
        <p:nvGraphicFramePr>
          <p:cNvPr id="4" name="Table 3">
            <a:extLst>
              <a:ext uri="{FF2B5EF4-FFF2-40B4-BE49-F238E27FC236}">
                <a16:creationId xmlns:a16="http://schemas.microsoft.com/office/drawing/2014/main" id="{A1D44602-B1BD-929B-E8DF-AB6A1E51FCDA}"/>
              </a:ext>
            </a:extLst>
          </p:cNvPr>
          <p:cNvGraphicFramePr>
            <a:graphicFrameLocks noGrp="1"/>
          </p:cNvGraphicFramePr>
          <p:nvPr>
            <p:extLst>
              <p:ext uri="{D42A27DB-BD31-4B8C-83A1-F6EECF244321}">
                <p14:modId xmlns:p14="http://schemas.microsoft.com/office/powerpoint/2010/main" val="3770515975"/>
              </p:ext>
            </p:extLst>
          </p:nvPr>
        </p:nvGraphicFramePr>
        <p:xfrm>
          <a:off x="7955261" y="2085523"/>
          <a:ext cx="4158075" cy="2916431"/>
        </p:xfrm>
        <a:graphic>
          <a:graphicData uri="http://schemas.openxmlformats.org/drawingml/2006/table">
            <a:tbl>
              <a:tblPr firstRow="1" bandRow="1">
                <a:tableStyleId>{5C22544A-7EE6-4342-B048-85BDC9FD1C3A}</a:tableStyleId>
              </a:tblPr>
              <a:tblGrid>
                <a:gridCol w="1470133">
                  <a:extLst>
                    <a:ext uri="{9D8B030D-6E8A-4147-A177-3AD203B41FA5}">
                      <a16:colId xmlns:a16="http://schemas.microsoft.com/office/drawing/2014/main" val="1204421765"/>
                    </a:ext>
                  </a:extLst>
                </a:gridCol>
                <a:gridCol w="1301917">
                  <a:extLst>
                    <a:ext uri="{9D8B030D-6E8A-4147-A177-3AD203B41FA5}">
                      <a16:colId xmlns:a16="http://schemas.microsoft.com/office/drawing/2014/main" val="1444401910"/>
                    </a:ext>
                  </a:extLst>
                </a:gridCol>
                <a:gridCol w="1386025">
                  <a:extLst>
                    <a:ext uri="{9D8B030D-6E8A-4147-A177-3AD203B41FA5}">
                      <a16:colId xmlns:a16="http://schemas.microsoft.com/office/drawing/2014/main" val="366672871"/>
                    </a:ext>
                  </a:extLst>
                </a:gridCol>
              </a:tblGrid>
              <a:tr h="601258">
                <a:tc>
                  <a:txBody>
                    <a:bodyPr/>
                    <a:lstStyle/>
                    <a:p>
                      <a:pPr algn="ctr"/>
                      <a:r>
                        <a:rPr lang="en-US" dirty="0"/>
                        <a:t>Theta Exonic</a:t>
                      </a:r>
                    </a:p>
                  </a:txBody>
                  <a:tcPr anchor="ctr"/>
                </a:tc>
                <a:tc>
                  <a:txBody>
                    <a:bodyPr/>
                    <a:lstStyle/>
                    <a:p>
                      <a:pPr algn="ctr"/>
                      <a:r>
                        <a:rPr lang="en-US" dirty="0"/>
                        <a:t>cBGE</a:t>
                      </a:r>
                    </a:p>
                  </a:txBody>
                  <a:tcPr anchor="ctr"/>
                </a:tc>
                <a:tc>
                  <a:txBody>
                    <a:bodyPr/>
                    <a:lstStyle/>
                    <a:p>
                      <a:pPr algn="ctr"/>
                      <a:r>
                        <a:rPr lang="en-US" dirty="0"/>
                        <a:t>WGS</a:t>
                      </a:r>
                    </a:p>
                  </a:txBody>
                  <a:tcPr anchor="ctr"/>
                </a:tc>
                <a:extLst>
                  <a:ext uri="{0D108BD9-81ED-4DB2-BD59-A6C34878D82A}">
                    <a16:rowId xmlns:a16="http://schemas.microsoft.com/office/drawing/2014/main" val="460584278"/>
                  </a:ext>
                </a:extLst>
              </a:tr>
              <a:tr h="343576">
                <a:tc>
                  <a:txBody>
                    <a:bodyPr/>
                    <a:lstStyle/>
                    <a:p>
                      <a:pPr algn="ctr"/>
                      <a:r>
                        <a:rPr lang="en-US" dirty="0">
                          <a:solidFill>
                            <a:schemeClr val="bg2"/>
                          </a:solidFill>
                        </a:rPr>
                        <a:t>Minimum</a:t>
                      </a:r>
                    </a:p>
                  </a:txBody>
                  <a:tcPr anchor="ctr"/>
                </a:tc>
                <a:tc>
                  <a:txBody>
                    <a:bodyPr/>
                    <a:lstStyle/>
                    <a:p>
                      <a:pPr algn="ctr"/>
                      <a:r>
                        <a:rPr lang="en-US" dirty="0">
                          <a:solidFill>
                            <a:schemeClr val="bg2"/>
                          </a:solidFill>
                        </a:rPr>
                        <a:t>11964</a:t>
                      </a:r>
                    </a:p>
                  </a:txBody>
                  <a:tcPr anchor="ctr"/>
                </a:tc>
                <a:tc>
                  <a:txBody>
                    <a:bodyPr/>
                    <a:lstStyle/>
                    <a:p>
                      <a:pPr algn="ctr"/>
                      <a:r>
                        <a:rPr lang="en-US" dirty="0">
                          <a:solidFill>
                            <a:schemeClr val="bg2"/>
                          </a:solidFill>
                        </a:rPr>
                        <a:t>7833</a:t>
                      </a:r>
                    </a:p>
                  </a:txBody>
                  <a:tcPr anchor="ctr"/>
                </a:tc>
                <a:extLst>
                  <a:ext uri="{0D108BD9-81ED-4DB2-BD59-A6C34878D82A}">
                    <a16:rowId xmlns:a16="http://schemas.microsoft.com/office/drawing/2014/main" val="2926292192"/>
                  </a:ext>
                </a:extLst>
              </a:tr>
              <a:tr h="343576">
                <a:tc>
                  <a:txBody>
                    <a:bodyPr/>
                    <a:lstStyle/>
                    <a:p>
                      <a:pPr algn="ctr"/>
                      <a:r>
                        <a:rPr lang="en-US" dirty="0">
                          <a:solidFill>
                            <a:schemeClr val="bg2"/>
                          </a:solidFill>
                        </a:rPr>
                        <a:t>1st Quartile</a:t>
                      </a:r>
                    </a:p>
                  </a:txBody>
                  <a:tcPr anchor="ctr"/>
                </a:tc>
                <a:tc>
                  <a:txBody>
                    <a:bodyPr/>
                    <a:lstStyle/>
                    <a:p>
                      <a:pPr algn="ctr"/>
                      <a:r>
                        <a:rPr lang="en-US" dirty="0">
                          <a:solidFill>
                            <a:schemeClr val="bg2"/>
                          </a:solidFill>
                        </a:rPr>
                        <a:t>12868</a:t>
                      </a:r>
                    </a:p>
                  </a:txBody>
                  <a:tcPr anchor="ctr"/>
                </a:tc>
                <a:tc>
                  <a:txBody>
                    <a:bodyPr/>
                    <a:lstStyle/>
                    <a:p>
                      <a:pPr algn="ctr"/>
                      <a:r>
                        <a:rPr lang="en-US" dirty="0">
                          <a:solidFill>
                            <a:schemeClr val="bg2"/>
                          </a:solidFill>
                        </a:rPr>
                        <a:t>14536</a:t>
                      </a:r>
                    </a:p>
                  </a:txBody>
                  <a:tcPr anchor="ctr"/>
                </a:tc>
                <a:extLst>
                  <a:ext uri="{0D108BD9-81ED-4DB2-BD59-A6C34878D82A}">
                    <a16:rowId xmlns:a16="http://schemas.microsoft.com/office/drawing/2014/main" val="1290563123"/>
                  </a:ext>
                </a:extLst>
              </a:tr>
              <a:tr h="343576">
                <a:tc>
                  <a:txBody>
                    <a:bodyPr/>
                    <a:lstStyle/>
                    <a:p>
                      <a:pPr algn="ctr"/>
                      <a:r>
                        <a:rPr lang="en-US" dirty="0">
                          <a:solidFill>
                            <a:schemeClr val="bg2"/>
                          </a:solidFill>
                        </a:rPr>
                        <a:t>Median</a:t>
                      </a:r>
                    </a:p>
                  </a:txBody>
                  <a:tcPr anchor="ctr"/>
                </a:tc>
                <a:tc>
                  <a:txBody>
                    <a:bodyPr/>
                    <a:lstStyle/>
                    <a:p>
                      <a:pPr algn="ctr"/>
                      <a:r>
                        <a:rPr lang="en-US" dirty="0">
                          <a:solidFill>
                            <a:schemeClr val="bg2"/>
                          </a:solidFill>
                        </a:rPr>
                        <a:t>14629</a:t>
                      </a:r>
                    </a:p>
                  </a:txBody>
                  <a:tcPr anchor="ctr"/>
                </a:tc>
                <a:tc>
                  <a:txBody>
                    <a:bodyPr/>
                    <a:lstStyle/>
                    <a:p>
                      <a:pPr algn="ctr"/>
                      <a:r>
                        <a:rPr lang="en-US" dirty="0">
                          <a:solidFill>
                            <a:schemeClr val="bg2"/>
                          </a:solidFill>
                        </a:rPr>
                        <a:t>14723</a:t>
                      </a:r>
                    </a:p>
                  </a:txBody>
                  <a:tcPr anchor="ctr"/>
                </a:tc>
                <a:extLst>
                  <a:ext uri="{0D108BD9-81ED-4DB2-BD59-A6C34878D82A}">
                    <a16:rowId xmlns:a16="http://schemas.microsoft.com/office/drawing/2014/main" val="1336683413"/>
                  </a:ext>
                </a:extLst>
              </a:tr>
              <a:tr h="343576">
                <a:tc>
                  <a:txBody>
                    <a:bodyPr/>
                    <a:lstStyle/>
                    <a:p>
                      <a:pPr algn="ctr"/>
                      <a:r>
                        <a:rPr lang="en-US" dirty="0">
                          <a:solidFill>
                            <a:schemeClr val="bg2"/>
                          </a:solidFill>
                        </a:rPr>
                        <a:t>Mean</a:t>
                      </a:r>
                    </a:p>
                  </a:txBody>
                  <a:tcPr anchor="ctr"/>
                </a:tc>
                <a:tc>
                  <a:txBody>
                    <a:bodyPr/>
                    <a:lstStyle/>
                    <a:p>
                      <a:pPr algn="ctr"/>
                      <a:r>
                        <a:rPr lang="en-US" dirty="0">
                          <a:solidFill>
                            <a:schemeClr val="bg2"/>
                          </a:solidFill>
                        </a:rPr>
                        <a:t>14041</a:t>
                      </a:r>
                    </a:p>
                  </a:txBody>
                  <a:tcPr anchor="ctr"/>
                </a:tc>
                <a:tc>
                  <a:txBody>
                    <a:bodyPr/>
                    <a:lstStyle/>
                    <a:p>
                      <a:pPr algn="ctr"/>
                      <a:r>
                        <a:rPr lang="en-US" dirty="0">
                          <a:solidFill>
                            <a:schemeClr val="bg2"/>
                          </a:solidFill>
                        </a:rPr>
                        <a:t>14620</a:t>
                      </a:r>
                    </a:p>
                  </a:txBody>
                  <a:tcPr anchor="ctr"/>
                </a:tc>
                <a:extLst>
                  <a:ext uri="{0D108BD9-81ED-4DB2-BD59-A6C34878D82A}">
                    <a16:rowId xmlns:a16="http://schemas.microsoft.com/office/drawing/2014/main" val="2761378010"/>
                  </a:ext>
                </a:extLst>
              </a:tr>
              <a:tr h="343576">
                <a:tc>
                  <a:txBody>
                    <a:bodyPr/>
                    <a:lstStyle/>
                    <a:p>
                      <a:pPr algn="ctr"/>
                      <a:r>
                        <a:rPr lang="en-US" dirty="0">
                          <a:solidFill>
                            <a:schemeClr val="bg2"/>
                          </a:solidFill>
                        </a:rPr>
                        <a:t>3</a:t>
                      </a:r>
                      <a:r>
                        <a:rPr lang="en-US" baseline="30000" dirty="0">
                          <a:solidFill>
                            <a:schemeClr val="bg2"/>
                          </a:solidFill>
                        </a:rPr>
                        <a:t>rd</a:t>
                      </a:r>
                      <a:r>
                        <a:rPr lang="en-US" dirty="0">
                          <a:solidFill>
                            <a:schemeClr val="bg2"/>
                          </a:solidFill>
                        </a:rPr>
                        <a:t> Quartile</a:t>
                      </a:r>
                    </a:p>
                  </a:txBody>
                  <a:tcPr anchor="ctr"/>
                </a:tc>
                <a:tc>
                  <a:txBody>
                    <a:bodyPr/>
                    <a:lstStyle/>
                    <a:p>
                      <a:pPr algn="ctr"/>
                      <a:r>
                        <a:rPr lang="en-US" dirty="0">
                          <a:solidFill>
                            <a:schemeClr val="bg2"/>
                          </a:solidFill>
                        </a:rPr>
                        <a:t>14866</a:t>
                      </a:r>
                    </a:p>
                  </a:txBody>
                  <a:tcPr anchor="ctr"/>
                </a:tc>
                <a:tc>
                  <a:txBody>
                    <a:bodyPr/>
                    <a:lstStyle/>
                    <a:p>
                      <a:pPr algn="ctr"/>
                      <a:r>
                        <a:rPr lang="en-US" dirty="0">
                          <a:solidFill>
                            <a:schemeClr val="bg2"/>
                          </a:solidFill>
                        </a:rPr>
                        <a:t>14853</a:t>
                      </a:r>
                    </a:p>
                  </a:txBody>
                  <a:tcPr anchor="ctr"/>
                </a:tc>
                <a:extLst>
                  <a:ext uri="{0D108BD9-81ED-4DB2-BD59-A6C34878D82A}">
                    <a16:rowId xmlns:a16="http://schemas.microsoft.com/office/drawing/2014/main" val="1630894396"/>
                  </a:ext>
                </a:extLst>
              </a:tr>
              <a:tr h="343576">
                <a:tc>
                  <a:txBody>
                    <a:bodyPr/>
                    <a:lstStyle/>
                    <a:p>
                      <a:pPr algn="ctr"/>
                      <a:r>
                        <a:rPr lang="en-US" dirty="0">
                          <a:solidFill>
                            <a:schemeClr val="bg2"/>
                          </a:solidFill>
                        </a:rPr>
                        <a:t>Maximum</a:t>
                      </a:r>
                    </a:p>
                  </a:txBody>
                  <a:tcPr anchor="ctr"/>
                </a:tc>
                <a:tc>
                  <a:txBody>
                    <a:bodyPr/>
                    <a:lstStyle/>
                    <a:p>
                      <a:pPr algn="ctr"/>
                      <a:r>
                        <a:rPr lang="en-US" dirty="0">
                          <a:solidFill>
                            <a:schemeClr val="bg2"/>
                          </a:solidFill>
                        </a:rPr>
                        <a:t>15369</a:t>
                      </a:r>
                    </a:p>
                  </a:txBody>
                  <a:tcPr anchor="ctr"/>
                </a:tc>
                <a:tc>
                  <a:txBody>
                    <a:bodyPr/>
                    <a:lstStyle/>
                    <a:p>
                      <a:pPr algn="ctr"/>
                      <a:r>
                        <a:rPr lang="en-US" dirty="0">
                          <a:solidFill>
                            <a:schemeClr val="bg2"/>
                          </a:solidFill>
                        </a:rPr>
                        <a:t>21300</a:t>
                      </a:r>
                    </a:p>
                  </a:txBody>
                  <a:tcPr anchor="ctr"/>
                </a:tc>
                <a:extLst>
                  <a:ext uri="{0D108BD9-81ED-4DB2-BD59-A6C34878D82A}">
                    <a16:rowId xmlns:a16="http://schemas.microsoft.com/office/drawing/2014/main" val="1145421922"/>
                  </a:ext>
                </a:extLst>
              </a:tr>
            </a:tbl>
          </a:graphicData>
        </a:graphic>
      </p:graphicFrame>
      <p:pic>
        <p:nvPicPr>
          <p:cNvPr id="7" name="Picture 6">
            <a:extLst>
              <a:ext uri="{FF2B5EF4-FFF2-40B4-BE49-F238E27FC236}">
                <a16:creationId xmlns:a16="http://schemas.microsoft.com/office/drawing/2014/main" id="{999D4481-95FA-D3CC-A04E-A59C3A9EB509}"/>
              </a:ext>
            </a:extLst>
          </p:cNvPr>
          <p:cNvPicPr>
            <a:picLocks noChangeAspect="1"/>
          </p:cNvPicPr>
          <p:nvPr/>
        </p:nvPicPr>
        <p:blipFill>
          <a:blip r:embed="rId2"/>
          <a:stretch>
            <a:fillRect/>
          </a:stretch>
        </p:blipFill>
        <p:spPr>
          <a:xfrm>
            <a:off x="78664" y="1485900"/>
            <a:ext cx="7772400" cy="3886200"/>
          </a:xfrm>
          <a:prstGeom prst="rect">
            <a:avLst/>
          </a:prstGeom>
        </p:spPr>
      </p:pic>
    </p:spTree>
    <p:extLst>
      <p:ext uri="{BB962C8B-B14F-4D97-AF65-F5344CB8AC3E}">
        <p14:creationId xmlns:p14="http://schemas.microsoft.com/office/powerpoint/2010/main" val="583891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EE78C-2A14-AD98-2866-FD324EE07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20247-AAEB-C45F-29C1-C96567888D55}"/>
              </a:ext>
            </a:extLst>
          </p:cNvPr>
          <p:cNvSpPr>
            <a:spLocks noGrp="1"/>
          </p:cNvSpPr>
          <p:nvPr>
            <p:ph type="sldNum" idx="12"/>
          </p:nvPr>
        </p:nvSpPr>
        <p:spPr/>
        <p:txBody>
          <a:bodyPr/>
          <a:lstStyle/>
          <a:p>
            <a:fld id="{00000000-1234-1234-1234-123412341234}" type="slidenum">
              <a:rPr lang="en-GB" smtClean="0"/>
              <a:pPr/>
              <a:t>9</a:t>
            </a:fld>
            <a:endParaRPr lang="en-GB"/>
          </a:p>
        </p:txBody>
      </p:sp>
      <p:sp>
        <p:nvSpPr>
          <p:cNvPr id="3" name="TextBox 2">
            <a:extLst>
              <a:ext uri="{FF2B5EF4-FFF2-40B4-BE49-F238E27FC236}">
                <a16:creationId xmlns:a16="http://schemas.microsoft.com/office/drawing/2014/main" id="{261E06FD-EE74-8705-BD78-D8911FEA9C4A}"/>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Theta Exonic by Ancestry</a:t>
            </a:r>
          </a:p>
        </p:txBody>
      </p:sp>
      <p:pic>
        <p:nvPicPr>
          <p:cNvPr id="4" name="Picture 3">
            <a:extLst>
              <a:ext uri="{FF2B5EF4-FFF2-40B4-BE49-F238E27FC236}">
                <a16:creationId xmlns:a16="http://schemas.microsoft.com/office/drawing/2014/main" id="{33AAF7E9-80B8-5A23-F3D8-447EAE9DEFC7}"/>
              </a:ext>
            </a:extLst>
          </p:cNvPr>
          <p:cNvPicPr>
            <a:picLocks noChangeAspect="1"/>
          </p:cNvPicPr>
          <p:nvPr/>
        </p:nvPicPr>
        <p:blipFill>
          <a:blip r:embed="rId2"/>
          <a:stretch>
            <a:fillRect/>
          </a:stretch>
        </p:blipFill>
        <p:spPr>
          <a:xfrm>
            <a:off x="400596" y="836024"/>
            <a:ext cx="11390808" cy="5695404"/>
          </a:xfrm>
          <a:prstGeom prst="rect">
            <a:avLst/>
          </a:prstGeom>
        </p:spPr>
      </p:pic>
    </p:spTree>
    <p:extLst>
      <p:ext uri="{BB962C8B-B14F-4D97-AF65-F5344CB8AC3E}">
        <p14:creationId xmlns:p14="http://schemas.microsoft.com/office/powerpoint/2010/main" val="176259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1036-3937-3242-D629-DD953F1A05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EBE42E-0D7C-C846-16A4-C3555493C7F3}"/>
              </a:ext>
            </a:extLst>
          </p:cNvPr>
          <p:cNvSpPr>
            <a:spLocks noGrp="1"/>
          </p:cNvSpPr>
          <p:nvPr>
            <p:ph type="sldNum" idx="12"/>
          </p:nvPr>
        </p:nvSpPr>
        <p:spPr/>
        <p:txBody>
          <a:bodyPr/>
          <a:lstStyle/>
          <a:p>
            <a:fld id="{00000000-1234-1234-1234-123412341234}" type="slidenum">
              <a:rPr lang="en-GB" smtClean="0"/>
              <a:pPr/>
              <a:t>10</a:t>
            </a:fld>
            <a:endParaRPr lang="en-GB"/>
          </a:p>
        </p:txBody>
      </p:sp>
      <p:sp>
        <p:nvSpPr>
          <p:cNvPr id="3" name="TextBox 2">
            <a:extLst>
              <a:ext uri="{FF2B5EF4-FFF2-40B4-BE49-F238E27FC236}">
                <a16:creationId xmlns:a16="http://schemas.microsoft.com/office/drawing/2014/main" id="{8B710755-402C-2B18-E5E7-26EC34C67432}"/>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Silent/Replacement Ratio</a:t>
            </a:r>
          </a:p>
        </p:txBody>
      </p:sp>
      <p:graphicFrame>
        <p:nvGraphicFramePr>
          <p:cNvPr id="4" name="Table 3">
            <a:extLst>
              <a:ext uri="{FF2B5EF4-FFF2-40B4-BE49-F238E27FC236}">
                <a16:creationId xmlns:a16="http://schemas.microsoft.com/office/drawing/2014/main" id="{0E79763A-D0A0-847D-6B91-6BC514941F1E}"/>
              </a:ext>
            </a:extLst>
          </p:cNvPr>
          <p:cNvGraphicFramePr>
            <a:graphicFrameLocks noGrp="1"/>
          </p:cNvGraphicFramePr>
          <p:nvPr>
            <p:extLst>
              <p:ext uri="{D42A27DB-BD31-4B8C-83A1-F6EECF244321}">
                <p14:modId xmlns:p14="http://schemas.microsoft.com/office/powerpoint/2010/main" val="182279111"/>
              </p:ext>
            </p:extLst>
          </p:nvPr>
        </p:nvGraphicFramePr>
        <p:xfrm>
          <a:off x="7766799" y="1969054"/>
          <a:ext cx="4158075" cy="2916431"/>
        </p:xfrm>
        <a:graphic>
          <a:graphicData uri="http://schemas.openxmlformats.org/drawingml/2006/table">
            <a:tbl>
              <a:tblPr firstRow="1" bandRow="1">
                <a:tableStyleId>{5C22544A-7EE6-4342-B048-85BDC9FD1C3A}</a:tableStyleId>
              </a:tblPr>
              <a:tblGrid>
                <a:gridCol w="1667081">
                  <a:extLst>
                    <a:ext uri="{9D8B030D-6E8A-4147-A177-3AD203B41FA5}">
                      <a16:colId xmlns:a16="http://schemas.microsoft.com/office/drawing/2014/main" val="1204421765"/>
                    </a:ext>
                  </a:extLst>
                </a:gridCol>
                <a:gridCol w="1104969">
                  <a:extLst>
                    <a:ext uri="{9D8B030D-6E8A-4147-A177-3AD203B41FA5}">
                      <a16:colId xmlns:a16="http://schemas.microsoft.com/office/drawing/2014/main" val="1444401910"/>
                    </a:ext>
                  </a:extLst>
                </a:gridCol>
                <a:gridCol w="1386025">
                  <a:extLst>
                    <a:ext uri="{9D8B030D-6E8A-4147-A177-3AD203B41FA5}">
                      <a16:colId xmlns:a16="http://schemas.microsoft.com/office/drawing/2014/main" val="366672871"/>
                    </a:ext>
                  </a:extLst>
                </a:gridCol>
              </a:tblGrid>
              <a:tr h="601258">
                <a:tc>
                  <a:txBody>
                    <a:bodyPr/>
                    <a:lstStyle/>
                    <a:p>
                      <a:pPr algn="ctr"/>
                      <a:r>
                        <a:rPr lang="en-US" dirty="0"/>
                        <a:t>Silent/</a:t>
                      </a:r>
                    </a:p>
                    <a:p>
                      <a:pPr algn="ctr"/>
                      <a:r>
                        <a:rPr lang="en-US" dirty="0"/>
                        <a:t>Replacement</a:t>
                      </a:r>
                    </a:p>
                  </a:txBody>
                  <a:tcPr anchor="ctr"/>
                </a:tc>
                <a:tc>
                  <a:txBody>
                    <a:bodyPr/>
                    <a:lstStyle/>
                    <a:p>
                      <a:pPr algn="ctr"/>
                      <a:r>
                        <a:rPr lang="en-US" dirty="0"/>
                        <a:t>cBGE</a:t>
                      </a:r>
                    </a:p>
                  </a:txBody>
                  <a:tcPr anchor="ctr"/>
                </a:tc>
                <a:tc>
                  <a:txBody>
                    <a:bodyPr/>
                    <a:lstStyle/>
                    <a:p>
                      <a:pPr algn="ctr"/>
                      <a:r>
                        <a:rPr lang="en-US" dirty="0"/>
                        <a:t>WGS</a:t>
                      </a:r>
                    </a:p>
                  </a:txBody>
                  <a:tcPr anchor="ctr"/>
                </a:tc>
                <a:extLst>
                  <a:ext uri="{0D108BD9-81ED-4DB2-BD59-A6C34878D82A}">
                    <a16:rowId xmlns:a16="http://schemas.microsoft.com/office/drawing/2014/main" val="460584278"/>
                  </a:ext>
                </a:extLst>
              </a:tr>
              <a:tr h="343576">
                <a:tc>
                  <a:txBody>
                    <a:bodyPr/>
                    <a:lstStyle/>
                    <a:p>
                      <a:pPr algn="ctr"/>
                      <a:r>
                        <a:rPr lang="en-US" dirty="0">
                          <a:solidFill>
                            <a:schemeClr val="bg2"/>
                          </a:solidFill>
                        </a:rPr>
                        <a:t>Minimum</a:t>
                      </a:r>
                    </a:p>
                  </a:txBody>
                  <a:tcPr anchor="ctr"/>
                </a:tc>
                <a:tc>
                  <a:txBody>
                    <a:bodyPr/>
                    <a:lstStyle/>
                    <a:p>
                      <a:pPr algn="ctr"/>
                      <a:r>
                        <a:rPr lang="en-US" dirty="0">
                          <a:solidFill>
                            <a:schemeClr val="bg2"/>
                          </a:solidFill>
                        </a:rPr>
                        <a:t>1.089</a:t>
                      </a:r>
                    </a:p>
                  </a:txBody>
                  <a:tcPr anchor="ctr"/>
                </a:tc>
                <a:tc>
                  <a:txBody>
                    <a:bodyPr/>
                    <a:lstStyle/>
                    <a:p>
                      <a:pPr algn="ctr"/>
                      <a:r>
                        <a:rPr lang="en-US" dirty="0">
                          <a:solidFill>
                            <a:schemeClr val="bg2"/>
                          </a:solidFill>
                        </a:rPr>
                        <a:t>1.093</a:t>
                      </a:r>
                    </a:p>
                  </a:txBody>
                  <a:tcPr anchor="ctr"/>
                </a:tc>
                <a:extLst>
                  <a:ext uri="{0D108BD9-81ED-4DB2-BD59-A6C34878D82A}">
                    <a16:rowId xmlns:a16="http://schemas.microsoft.com/office/drawing/2014/main" val="2926292192"/>
                  </a:ext>
                </a:extLst>
              </a:tr>
              <a:tr h="343576">
                <a:tc>
                  <a:txBody>
                    <a:bodyPr/>
                    <a:lstStyle/>
                    <a:p>
                      <a:pPr algn="ctr"/>
                      <a:r>
                        <a:rPr lang="en-US" dirty="0">
                          <a:solidFill>
                            <a:schemeClr val="bg2"/>
                          </a:solidFill>
                        </a:rPr>
                        <a:t>1st Quartile</a:t>
                      </a:r>
                    </a:p>
                  </a:txBody>
                  <a:tcPr anchor="ctr"/>
                </a:tc>
                <a:tc>
                  <a:txBody>
                    <a:bodyPr/>
                    <a:lstStyle/>
                    <a:p>
                      <a:pPr algn="ctr"/>
                      <a:r>
                        <a:rPr lang="en-US" dirty="0">
                          <a:solidFill>
                            <a:schemeClr val="bg2"/>
                          </a:solidFill>
                        </a:rPr>
                        <a:t>1.123</a:t>
                      </a:r>
                    </a:p>
                  </a:txBody>
                  <a:tcPr anchor="ctr"/>
                </a:tc>
                <a:tc>
                  <a:txBody>
                    <a:bodyPr/>
                    <a:lstStyle/>
                    <a:p>
                      <a:pPr algn="ctr"/>
                      <a:r>
                        <a:rPr lang="en-US" dirty="0">
                          <a:solidFill>
                            <a:schemeClr val="bg2"/>
                          </a:solidFill>
                        </a:rPr>
                        <a:t>1.139</a:t>
                      </a:r>
                    </a:p>
                  </a:txBody>
                  <a:tcPr anchor="ctr"/>
                </a:tc>
                <a:extLst>
                  <a:ext uri="{0D108BD9-81ED-4DB2-BD59-A6C34878D82A}">
                    <a16:rowId xmlns:a16="http://schemas.microsoft.com/office/drawing/2014/main" val="1290563123"/>
                  </a:ext>
                </a:extLst>
              </a:tr>
              <a:tr h="343576">
                <a:tc>
                  <a:txBody>
                    <a:bodyPr/>
                    <a:lstStyle/>
                    <a:p>
                      <a:pPr algn="ctr"/>
                      <a:r>
                        <a:rPr lang="en-US" dirty="0">
                          <a:solidFill>
                            <a:schemeClr val="bg2"/>
                          </a:solidFill>
                        </a:rPr>
                        <a:t>Median</a:t>
                      </a:r>
                    </a:p>
                  </a:txBody>
                  <a:tcPr anchor="ctr"/>
                </a:tc>
                <a:tc>
                  <a:txBody>
                    <a:bodyPr/>
                    <a:lstStyle/>
                    <a:p>
                      <a:pPr algn="ctr"/>
                      <a:r>
                        <a:rPr lang="en-US" dirty="0">
                          <a:solidFill>
                            <a:schemeClr val="bg2"/>
                          </a:solidFill>
                        </a:rPr>
                        <a:t>1.133</a:t>
                      </a:r>
                    </a:p>
                  </a:txBody>
                  <a:tcPr anchor="ctr"/>
                </a:tc>
                <a:tc>
                  <a:txBody>
                    <a:bodyPr/>
                    <a:lstStyle/>
                    <a:p>
                      <a:pPr algn="ctr"/>
                      <a:r>
                        <a:rPr lang="en-US" dirty="0">
                          <a:solidFill>
                            <a:schemeClr val="bg2"/>
                          </a:solidFill>
                        </a:rPr>
                        <a:t>1.147</a:t>
                      </a:r>
                    </a:p>
                  </a:txBody>
                  <a:tcPr anchor="ctr"/>
                </a:tc>
                <a:extLst>
                  <a:ext uri="{0D108BD9-81ED-4DB2-BD59-A6C34878D82A}">
                    <a16:rowId xmlns:a16="http://schemas.microsoft.com/office/drawing/2014/main" val="1336683413"/>
                  </a:ext>
                </a:extLst>
              </a:tr>
              <a:tr h="343576">
                <a:tc>
                  <a:txBody>
                    <a:bodyPr/>
                    <a:lstStyle/>
                    <a:p>
                      <a:pPr algn="ctr"/>
                      <a:r>
                        <a:rPr lang="en-US" dirty="0">
                          <a:solidFill>
                            <a:schemeClr val="bg2"/>
                          </a:solidFill>
                        </a:rPr>
                        <a:t>Mean</a:t>
                      </a:r>
                    </a:p>
                  </a:txBody>
                  <a:tcPr anchor="ctr"/>
                </a:tc>
                <a:tc>
                  <a:txBody>
                    <a:bodyPr/>
                    <a:lstStyle/>
                    <a:p>
                      <a:pPr algn="ctr"/>
                      <a:r>
                        <a:rPr lang="en-US" dirty="0">
                          <a:solidFill>
                            <a:schemeClr val="bg2"/>
                          </a:solidFill>
                        </a:rPr>
                        <a:t>1.132</a:t>
                      </a:r>
                    </a:p>
                  </a:txBody>
                  <a:tcPr anchor="ctr"/>
                </a:tc>
                <a:tc>
                  <a:txBody>
                    <a:bodyPr/>
                    <a:lstStyle/>
                    <a:p>
                      <a:pPr algn="ctr"/>
                      <a:r>
                        <a:rPr lang="en-US" dirty="0">
                          <a:solidFill>
                            <a:schemeClr val="bg2"/>
                          </a:solidFill>
                        </a:rPr>
                        <a:t>1.147</a:t>
                      </a:r>
                    </a:p>
                  </a:txBody>
                  <a:tcPr anchor="ctr"/>
                </a:tc>
                <a:extLst>
                  <a:ext uri="{0D108BD9-81ED-4DB2-BD59-A6C34878D82A}">
                    <a16:rowId xmlns:a16="http://schemas.microsoft.com/office/drawing/2014/main" val="2761378010"/>
                  </a:ext>
                </a:extLst>
              </a:tr>
              <a:tr h="343576">
                <a:tc>
                  <a:txBody>
                    <a:bodyPr/>
                    <a:lstStyle/>
                    <a:p>
                      <a:pPr algn="ctr"/>
                      <a:r>
                        <a:rPr lang="en-US" dirty="0">
                          <a:solidFill>
                            <a:schemeClr val="bg2"/>
                          </a:solidFill>
                        </a:rPr>
                        <a:t>3</a:t>
                      </a:r>
                      <a:r>
                        <a:rPr lang="en-US" baseline="30000" dirty="0">
                          <a:solidFill>
                            <a:schemeClr val="bg2"/>
                          </a:solidFill>
                        </a:rPr>
                        <a:t>rd</a:t>
                      </a:r>
                      <a:r>
                        <a:rPr lang="en-US" dirty="0">
                          <a:solidFill>
                            <a:schemeClr val="bg2"/>
                          </a:solidFill>
                        </a:rPr>
                        <a:t> Quartile</a:t>
                      </a:r>
                    </a:p>
                  </a:txBody>
                  <a:tcPr anchor="ctr"/>
                </a:tc>
                <a:tc>
                  <a:txBody>
                    <a:bodyPr/>
                    <a:lstStyle/>
                    <a:p>
                      <a:pPr algn="ctr"/>
                      <a:r>
                        <a:rPr lang="en-US" dirty="0">
                          <a:solidFill>
                            <a:schemeClr val="bg2"/>
                          </a:solidFill>
                        </a:rPr>
                        <a:t>1.142</a:t>
                      </a:r>
                    </a:p>
                  </a:txBody>
                  <a:tcPr anchor="ctr"/>
                </a:tc>
                <a:tc>
                  <a:txBody>
                    <a:bodyPr/>
                    <a:lstStyle/>
                    <a:p>
                      <a:pPr algn="ctr"/>
                      <a:r>
                        <a:rPr lang="en-US" dirty="0">
                          <a:solidFill>
                            <a:schemeClr val="bg2"/>
                          </a:solidFill>
                        </a:rPr>
                        <a:t>1.155</a:t>
                      </a:r>
                    </a:p>
                  </a:txBody>
                  <a:tcPr anchor="ctr"/>
                </a:tc>
                <a:extLst>
                  <a:ext uri="{0D108BD9-81ED-4DB2-BD59-A6C34878D82A}">
                    <a16:rowId xmlns:a16="http://schemas.microsoft.com/office/drawing/2014/main" val="1630894396"/>
                  </a:ext>
                </a:extLst>
              </a:tr>
              <a:tr h="343576">
                <a:tc>
                  <a:txBody>
                    <a:bodyPr/>
                    <a:lstStyle/>
                    <a:p>
                      <a:pPr algn="ctr"/>
                      <a:r>
                        <a:rPr lang="en-US" dirty="0">
                          <a:solidFill>
                            <a:schemeClr val="bg2"/>
                          </a:solidFill>
                        </a:rPr>
                        <a:t>Maximum</a:t>
                      </a:r>
                    </a:p>
                  </a:txBody>
                  <a:tcPr anchor="ctr"/>
                </a:tc>
                <a:tc>
                  <a:txBody>
                    <a:bodyPr/>
                    <a:lstStyle/>
                    <a:p>
                      <a:pPr algn="ctr"/>
                      <a:r>
                        <a:rPr lang="en-US" dirty="0">
                          <a:solidFill>
                            <a:schemeClr val="bg2"/>
                          </a:solidFill>
                        </a:rPr>
                        <a:t>1.184</a:t>
                      </a:r>
                    </a:p>
                  </a:txBody>
                  <a:tcPr anchor="ctr"/>
                </a:tc>
                <a:tc>
                  <a:txBody>
                    <a:bodyPr/>
                    <a:lstStyle/>
                    <a:p>
                      <a:pPr algn="ctr"/>
                      <a:r>
                        <a:rPr lang="en-US" dirty="0">
                          <a:solidFill>
                            <a:schemeClr val="bg2"/>
                          </a:solidFill>
                        </a:rPr>
                        <a:t>1.645</a:t>
                      </a:r>
                    </a:p>
                  </a:txBody>
                  <a:tcPr anchor="ctr"/>
                </a:tc>
                <a:extLst>
                  <a:ext uri="{0D108BD9-81ED-4DB2-BD59-A6C34878D82A}">
                    <a16:rowId xmlns:a16="http://schemas.microsoft.com/office/drawing/2014/main" val="1145421922"/>
                  </a:ext>
                </a:extLst>
              </a:tr>
            </a:tbl>
          </a:graphicData>
        </a:graphic>
      </p:graphicFrame>
      <p:pic>
        <p:nvPicPr>
          <p:cNvPr id="5" name="Picture 4">
            <a:extLst>
              <a:ext uri="{FF2B5EF4-FFF2-40B4-BE49-F238E27FC236}">
                <a16:creationId xmlns:a16="http://schemas.microsoft.com/office/drawing/2014/main" id="{E2BC047C-BBAD-51A9-DAE9-BBE5EDE212E4}"/>
              </a:ext>
            </a:extLst>
          </p:cNvPr>
          <p:cNvPicPr>
            <a:picLocks noChangeAspect="1"/>
          </p:cNvPicPr>
          <p:nvPr/>
        </p:nvPicPr>
        <p:blipFill>
          <a:blip r:embed="rId2"/>
          <a:stretch>
            <a:fillRect/>
          </a:stretch>
        </p:blipFill>
        <p:spPr>
          <a:xfrm>
            <a:off x="51003" y="1402080"/>
            <a:ext cx="7715796" cy="3857898"/>
          </a:xfrm>
          <a:prstGeom prst="rect">
            <a:avLst/>
          </a:prstGeom>
        </p:spPr>
      </p:pic>
    </p:spTree>
    <p:extLst>
      <p:ext uri="{BB962C8B-B14F-4D97-AF65-F5344CB8AC3E}">
        <p14:creationId xmlns:p14="http://schemas.microsoft.com/office/powerpoint/2010/main" val="797279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48987-8196-D371-29BF-1ABEC0D860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83E602-B07E-2088-BF63-069567D590C9}"/>
              </a:ext>
            </a:extLst>
          </p:cNvPr>
          <p:cNvSpPr>
            <a:spLocks noGrp="1"/>
          </p:cNvSpPr>
          <p:nvPr>
            <p:ph type="sldNum" idx="12"/>
          </p:nvPr>
        </p:nvSpPr>
        <p:spPr/>
        <p:txBody>
          <a:bodyPr/>
          <a:lstStyle/>
          <a:p>
            <a:fld id="{00000000-1234-1234-1234-123412341234}" type="slidenum">
              <a:rPr lang="en-GB" smtClean="0"/>
              <a:pPr/>
              <a:t>11</a:t>
            </a:fld>
            <a:endParaRPr lang="en-GB"/>
          </a:p>
        </p:txBody>
      </p:sp>
      <p:sp>
        <p:nvSpPr>
          <p:cNvPr id="3" name="TextBox 2">
            <a:extLst>
              <a:ext uri="{FF2B5EF4-FFF2-40B4-BE49-F238E27FC236}">
                <a16:creationId xmlns:a16="http://schemas.microsoft.com/office/drawing/2014/main" id="{131BDA28-8655-DC24-5404-C4CD1C11CA90}"/>
              </a:ext>
            </a:extLst>
          </p:cNvPr>
          <p:cNvSpPr txBox="1"/>
          <p:nvPr/>
        </p:nvSpPr>
        <p:spPr>
          <a:xfrm>
            <a:off x="3388717" y="155841"/>
            <a:ext cx="5414565"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Silent/Replacement Ratio by Ancestry</a:t>
            </a:r>
          </a:p>
        </p:txBody>
      </p:sp>
      <p:pic>
        <p:nvPicPr>
          <p:cNvPr id="4" name="Picture 3">
            <a:extLst>
              <a:ext uri="{FF2B5EF4-FFF2-40B4-BE49-F238E27FC236}">
                <a16:creationId xmlns:a16="http://schemas.microsoft.com/office/drawing/2014/main" id="{F3D619A3-1686-2406-EC90-6B8814E0DB46}"/>
              </a:ext>
            </a:extLst>
          </p:cNvPr>
          <p:cNvPicPr>
            <a:picLocks noChangeAspect="1"/>
          </p:cNvPicPr>
          <p:nvPr/>
        </p:nvPicPr>
        <p:blipFill>
          <a:blip r:embed="rId2"/>
          <a:stretch>
            <a:fillRect/>
          </a:stretch>
        </p:blipFill>
        <p:spPr>
          <a:xfrm>
            <a:off x="269965" y="816428"/>
            <a:ext cx="11290662" cy="5645331"/>
          </a:xfrm>
          <a:prstGeom prst="rect">
            <a:avLst/>
          </a:prstGeom>
        </p:spPr>
      </p:pic>
    </p:spTree>
    <p:extLst>
      <p:ext uri="{BB962C8B-B14F-4D97-AF65-F5344CB8AC3E}">
        <p14:creationId xmlns:p14="http://schemas.microsoft.com/office/powerpoint/2010/main" val="972925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CBC5-1019-A906-09EE-288A5E37A7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77C2F6-E8B4-69C7-0F0A-0BFB84843EB7}"/>
              </a:ext>
            </a:extLst>
          </p:cNvPr>
          <p:cNvSpPr>
            <a:spLocks noGrp="1"/>
          </p:cNvSpPr>
          <p:nvPr>
            <p:ph type="sldNum" idx="12"/>
          </p:nvPr>
        </p:nvSpPr>
        <p:spPr/>
        <p:txBody>
          <a:bodyPr/>
          <a:lstStyle/>
          <a:p>
            <a:fld id="{00000000-1234-1234-1234-123412341234}" type="slidenum">
              <a:rPr lang="en-GB" smtClean="0"/>
              <a:pPr/>
              <a:t>12</a:t>
            </a:fld>
            <a:endParaRPr lang="en-GB"/>
          </a:p>
        </p:txBody>
      </p:sp>
      <p:graphicFrame>
        <p:nvGraphicFramePr>
          <p:cNvPr id="3" name="Table 2">
            <a:extLst>
              <a:ext uri="{FF2B5EF4-FFF2-40B4-BE49-F238E27FC236}">
                <a16:creationId xmlns:a16="http://schemas.microsoft.com/office/drawing/2014/main" id="{B3868A6A-8B12-01F2-7489-75E639D6666A}"/>
              </a:ext>
            </a:extLst>
          </p:cNvPr>
          <p:cNvGraphicFramePr>
            <a:graphicFrameLocks noGrp="1"/>
          </p:cNvGraphicFramePr>
          <p:nvPr>
            <p:extLst>
              <p:ext uri="{D42A27DB-BD31-4B8C-83A1-F6EECF244321}">
                <p14:modId xmlns:p14="http://schemas.microsoft.com/office/powerpoint/2010/main" val="1355935412"/>
              </p:ext>
            </p:extLst>
          </p:nvPr>
        </p:nvGraphicFramePr>
        <p:xfrm>
          <a:off x="7687934" y="1761966"/>
          <a:ext cx="4158075" cy="2857162"/>
        </p:xfrm>
        <a:graphic>
          <a:graphicData uri="http://schemas.openxmlformats.org/drawingml/2006/table">
            <a:tbl>
              <a:tblPr firstRow="1" bandRow="1">
                <a:tableStyleId>{5C22544A-7EE6-4342-B048-85BDC9FD1C3A}</a:tableStyleId>
              </a:tblPr>
              <a:tblGrid>
                <a:gridCol w="1667081">
                  <a:extLst>
                    <a:ext uri="{9D8B030D-6E8A-4147-A177-3AD203B41FA5}">
                      <a16:colId xmlns:a16="http://schemas.microsoft.com/office/drawing/2014/main" val="1204421765"/>
                    </a:ext>
                  </a:extLst>
                </a:gridCol>
                <a:gridCol w="1104969">
                  <a:extLst>
                    <a:ext uri="{9D8B030D-6E8A-4147-A177-3AD203B41FA5}">
                      <a16:colId xmlns:a16="http://schemas.microsoft.com/office/drawing/2014/main" val="1444401910"/>
                    </a:ext>
                  </a:extLst>
                </a:gridCol>
                <a:gridCol w="1386025">
                  <a:extLst>
                    <a:ext uri="{9D8B030D-6E8A-4147-A177-3AD203B41FA5}">
                      <a16:colId xmlns:a16="http://schemas.microsoft.com/office/drawing/2014/main" val="366672871"/>
                    </a:ext>
                  </a:extLst>
                </a:gridCol>
              </a:tblGrid>
              <a:tr h="601258">
                <a:tc>
                  <a:txBody>
                    <a:bodyPr/>
                    <a:lstStyle/>
                    <a:p>
                      <a:pPr algn="ctr"/>
                      <a:r>
                        <a:rPr lang="en-US" sz="1500" dirty="0"/>
                        <a:t>Heterozygotes/Homozygotes</a:t>
                      </a:r>
                    </a:p>
                  </a:txBody>
                  <a:tcPr anchor="ctr"/>
                </a:tc>
                <a:tc>
                  <a:txBody>
                    <a:bodyPr/>
                    <a:lstStyle/>
                    <a:p>
                      <a:pPr algn="ctr"/>
                      <a:r>
                        <a:rPr lang="en-US" dirty="0"/>
                        <a:t>cBGE</a:t>
                      </a:r>
                    </a:p>
                  </a:txBody>
                  <a:tcPr anchor="ctr"/>
                </a:tc>
                <a:tc>
                  <a:txBody>
                    <a:bodyPr/>
                    <a:lstStyle/>
                    <a:p>
                      <a:pPr algn="ctr"/>
                      <a:r>
                        <a:rPr lang="en-US" dirty="0"/>
                        <a:t>WGS</a:t>
                      </a:r>
                    </a:p>
                  </a:txBody>
                  <a:tcPr anchor="ctr"/>
                </a:tc>
                <a:extLst>
                  <a:ext uri="{0D108BD9-81ED-4DB2-BD59-A6C34878D82A}">
                    <a16:rowId xmlns:a16="http://schemas.microsoft.com/office/drawing/2014/main" val="460584278"/>
                  </a:ext>
                </a:extLst>
              </a:tr>
              <a:tr h="343576">
                <a:tc>
                  <a:txBody>
                    <a:bodyPr/>
                    <a:lstStyle/>
                    <a:p>
                      <a:pPr algn="ctr"/>
                      <a:r>
                        <a:rPr lang="en-US" dirty="0">
                          <a:solidFill>
                            <a:schemeClr val="bg2"/>
                          </a:solidFill>
                        </a:rPr>
                        <a:t>Minimum</a:t>
                      </a:r>
                    </a:p>
                  </a:txBody>
                  <a:tcPr anchor="ctr"/>
                </a:tc>
                <a:tc>
                  <a:txBody>
                    <a:bodyPr/>
                    <a:lstStyle/>
                    <a:p>
                      <a:pPr algn="ctr"/>
                      <a:r>
                        <a:rPr lang="en-US" dirty="0">
                          <a:solidFill>
                            <a:schemeClr val="bg2"/>
                          </a:solidFill>
                        </a:rPr>
                        <a:t>1.324</a:t>
                      </a:r>
                    </a:p>
                  </a:txBody>
                  <a:tcPr anchor="ctr"/>
                </a:tc>
                <a:tc>
                  <a:txBody>
                    <a:bodyPr/>
                    <a:lstStyle/>
                    <a:p>
                      <a:pPr algn="ctr"/>
                      <a:r>
                        <a:rPr lang="en-US" dirty="0">
                          <a:solidFill>
                            <a:schemeClr val="bg2"/>
                          </a:solidFill>
                        </a:rPr>
                        <a:t>0.174</a:t>
                      </a:r>
                    </a:p>
                  </a:txBody>
                  <a:tcPr anchor="ctr"/>
                </a:tc>
                <a:extLst>
                  <a:ext uri="{0D108BD9-81ED-4DB2-BD59-A6C34878D82A}">
                    <a16:rowId xmlns:a16="http://schemas.microsoft.com/office/drawing/2014/main" val="2926292192"/>
                  </a:ext>
                </a:extLst>
              </a:tr>
              <a:tr h="343576">
                <a:tc>
                  <a:txBody>
                    <a:bodyPr/>
                    <a:lstStyle/>
                    <a:p>
                      <a:pPr algn="ctr"/>
                      <a:r>
                        <a:rPr lang="en-US" dirty="0">
                          <a:solidFill>
                            <a:schemeClr val="bg2"/>
                          </a:solidFill>
                        </a:rPr>
                        <a:t>1st Quartile</a:t>
                      </a:r>
                    </a:p>
                  </a:txBody>
                  <a:tcPr anchor="ctr"/>
                </a:tc>
                <a:tc>
                  <a:txBody>
                    <a:bodyPr/>
                    <a:lstStyle/>
                    <a:p>
                      <a:pPr algn="ctr"/>
                      <a:r>
                        <a:rPr lang="en-US" dirty="0">
                          <a:solidFill>
                            <a:schemeClr val="bg2"/>
                          </a:solidFill>
                        </a:rPr>
                        <a:t>1.830</a:t>
                      </a:r>
                    </a:p>
                  </a:txBody>
                  <a:tcPr anchor="ctr"/>
                </a:tc>
                <a:tc>
                  <a:txBody>
                    <a:bodyPr/>
                    <a:lstStyle/>
                    <a:p>
                      <a:pPr algn="ctr"/>
                      <a:r>
                        <a:rPr lang="en-US" dirty="0">
                          <a:solidFill>
                            <a:schemeClr val="bg2"/>
                          </a:solidFill>
                        </a:rPr>
                        <a:t>2.169</a:t>
                      </a:r>
                    </a:p>
                  </a:txBody>
                  <a:tcPr anchor="ctr"/>
                </a:tc>
                <a:extLst>
                  <a:ext uri="{0D108BD9-81ED-4DB2-BD59-A6C34878D82A}">
                    <a16:rowId xmlns:a16="http://schemas.microsoft.com/office/drawing/2014/main" val="1290563123"/>
                  </a:ext>
                </a:extLst>
              </a:tr>
              <a:tr h="343576">
                <a:tc>
                  <a:txBody>
                    <a:bodyPr/>
                    <a:lstStyle/>
                    <a:p>
                      <a:pPr algn="ctr"/>
                      <a:r>
                        <a:rPr lang="en-US" dirty="0">
                          <a:solidFill>
                            <a:schemeClr val="bg2"/>
                          </a:solidFill>
                        </a:rPr>
                        <a:t>Median</a:t>
                      </a:r>
                    </a:p>
                  </a:txBody>
                  <a:tcPr anchor="ctr"/>
                </a:tc>
                <a:tc>
                  <a:txBody>
                    <a:bodyPr/>
                    <a:lstStyle/>
                    <a:p>
                      <a:pPr algn="ctr"/>
                      <a:r>
                        <a:rPr lang="en-US" dirty="0">
                          <a:solidFill>
                            <a:schemeClr val="bg2"/>
                          </a:solidFill>
                        </a:rPr>
                        <a:t>2.174</a:t>
                      </a:r>
                    </a:p>
                  </a:txBody>
                  <a:tcPr anchor="ctr"/>
                </a:tc>
                <a:tc>
                  <a:txBody>
                    <a:bodyPr/>
                    <a:lstStyle/>
                    <a:p>
                      <a:pPr algn="ctr"/>
                      <a:r>
                        <a:rPr lang="en-US" dirty="0">
                          <a:solidFill>
                            <a:schemeClr val="bg2"/>
                          </a:solidFill>
                        </a:rPr>
                        <a:t>2.191</a:t>
                      </a:r>
                    </a:p>
                  </a:txBody>
                  <a:tcPr anchor="ctr"/>
                </a:tc>
                <a:extLst>
                  <a:ext uri="{0D108BD9-81ED-4DB2-BD59-A6C34878D82A}">
                    <a16:rowId xmlns:a16="http://schemas.microsoft.com/office/drawing/2014/main" val="1336683413"/>
                  </a:ext>
                </a:extLst>
              </a:tr>
              <a:tr h="343576">
                <a:tc>
                  <a:txBody>
                    <a:bodyPr/>
                    <a:lstStyle/>
                    <a:p>
                      <a:pPr algn="ctr"/>
                      <a:r>
                        <a:rPr lang="en-US" dirty="0">
                          <a:solidFill>
                            <a:schemeClr val="bg2"/>
                          </a:solidFill>
                        </a:rPr>
                        <a:t>Mean</a:t>
                      </a:r>
                    </a:p>
                  </a:txBody>
                  <a:tcPr anchor="ctr"/>
                </a:tc>
                <a:tc>
                  <a:txBody>
                    <a:bodyPr/>
                    <a:lstStyle/>
                    <a:p>
                      <a:pPr algn="ctr"/>
                      <a:r>
                        <a:rPr lang="en-US" dirty="0">
                          <a:solidFill>
                            <a:schemeClr val="bg2"/>
                          </a:solidFill>
                        </a:rPr>
                        <a:t>2.051</a:t>
                      </a:r>
                    </a:p>
                  </a:txBody>
                  <a:tcPr anchor="ctr"/>
                </a:tc>
                <a:tc>
                  <a:txBody>
                    <a:bodyPr/>
                    <a:lstStyle/>
                    <a:p>
                      <a:pPr algn="ctr"/>
                      <a:r>
                        <a:rPr lang="en-US" dirty="0">
                          <a:solidFill>
                            <a:schemeClr val="bg2"/>
                          </a:solidFill>
                        </a:rPr>
                        <a:t>2.179</a:t>
                      </a:r>
                    </a:p>
                  </a:txBody>
                  <a:tcPr anchor="ctr"/>
                </a:tc>
                <a:extLst>
                  <a:ext uri="{0D108BD9-81ED-4DB2-BD59-A6C34878D82A}">
                    <a16:rowId xmlns:a16="http://schemas.microsoft.com/office/drawing/2014/main" val="2761378010"/>
                  </a:ext>
                </a:extLst>
              </a:tr>
              <a:tr h="343576">
                <a:tc>
                  <a:txBody>
                    <a:bodyPr/>
                    <a:lstStyle/>
                    <a:p>
                      <a:pPr algn="ctr"/>
                      <a:r>
                        <a:rPr lang="en-US" dirty="0">
                          <a:solidFill>
                            <a:schemeClr val="bg2"/>
                          </a:solidFill>
                        </a:rPr>
                        <a:t>3</a:t>
                      </a:r>
                      <a:r>
                        <a:rPr lang="en-US" baseline="30000" dirty="0">
                          <a:solidFill>
                            <a:schemeClr val="bg2"/>
                          </a:solidFill>
                        </a:rPr>
                        <a:t>rd</a:t>
                      </a:r>
                      <a:r>
                        <a:rPr lang="en-US" dirty="0">
                          <a:solidFill>
                            <a:schemeClr val="bg2"/>
                          </a:solidFill>
                        </a:rPr>
                        <a:t> Quartile</a:t>
                      </a:r>
                    </a:p>
                  </a:txBody>
                  <a:tcPr anchor="ctr"/>
                </a:tc>
                <a:tc>
                  <a:txBody>
                    <a:bodyPr/>
                    <a:lstStyle/>
                    <a:p>
                      <a:pPr algn="ctr"/>
                      <a:r>
                        <a:rPr lang="en-US" dirty="0">
                          <a:solidFill>
                            <a:schemeClr val="bg2"/>
                          </a:solidFill>
                        </a:rPr>
                        <a:t>2.202</a:t>
                      </a:r>
                    </a:p>
                  </a:txBody>
                  <a:tcPr anchor="ctr"/>
                </a:tc>
                <a:tc>
                  <a:txBody>
                    <a:bodyPr/>
                    <a:lstStyle/>
                    <a:p>
                      <a:pPr algn="ctr"/>
                      <a:r>
                        <a:rPr lang="en-US" dirty="0">
                          <a:solidFill>
                            <a:schemeClr val="bg2"/>
                          </a:solidFill>
                        </a:rPr>
                        <a:t>2.213</a:t>
                      </a:r>
                    </a:p>
                  </a:txBody>
                  <a:tcPr anchor="ctr"/>
                </a:tc>
                <a:extLst>
                  <a:ext uri="{0D108BD9-81ED-4DB2-BD59-A6C34878D82A}">
                    <a16:rowId xmlns:a16="http://schemas.microsoft.com/office/drawing/2014/main" val="1630894396"/>
                  </a:ext>
                </a:extLst>
              </a:tr>
              <a:tr h="343576">
                <a:tc>
                  <a:txBody>
                    <a:bodyPr/>
                    <a:lstStyle/>
                    <a:p>
                      <a:pPr algn="ctr"/>
                      <a:r>
                        <a:rPr lang="en-US" dirty="0">
                          <a:solidFill>
                            <a:schemeClr val="bg2"/>
                          </a:solidFill>
                        </a:rPr>
                        <a:t>Maximum</a:t>
                      </a:r>
                    </a:p>
                  </a:txBody>
                  <a:tcPr anchor="ctr"/>
                </a:tc>
                <a:tc>
                  <a:txBody>
                    <a:bodyPr/>
                    <a:lstStyle/>
                    <a:p>
                      <a:pPr algn="ctr"/>
                      <a:r>
                        <a:rPr lang="en-US" dirty="0">
                          <a:solidFill>
                            <a:schemeClr val="bg2"/>
                          </a:solidFill>
                        </a:rPr>
                        <a:t>2.403</a:t>
                      </a:r>
                    </a:p>
                  </a:txBody>
                  <a:tcPr anchor="ctr"/>
                </a:tc>
                <a:tc>
                  <a:txBody>
                    <a:bodyPr/>
                    <a:lstStyle/>
                    <a:p>
                      <a:pPr algn="ctr"/>
                      <a:r>
                        <a:rPr lang="en-US" dirty="0">
                          <a:solidFill>
                            <a:schemeClr val="bg2"/>
                          </a:solidFill>
                        </a:rPr>
                        <a:t>2.434</a:t>
                      </a:r>
                    </a:p>
                  </a:txBody>
                  <a:tcPr anchor="ctr"/>
                </a:tc>
                <a:extLst>
                  <a:ext uri="{0D108BD9-81ED-4DB2-BD59-A6C34878D82A}">
                    <a16:rowId xmlns:a16="http://schemas.microsoft.com/office/drawing/2014/main" val="1145421922"/>
                  </a:ext>
                </a:extLst>
              </a:tr>
            </a:tbl>
          </a:graphicData>
        </a:graphic>
      </p:graphicFrame>
      <p:sp>
        <p:nvSpPr>
          <p:cNvPr id="4" name="TextBox 3">
            <a:extLst>
              <a:ext uri="{FF2B5EF4-FFF2-40B4-BE49-F238E27FC236}">
                <a16:creationId xmlns:a16="http://schemas.microsoft.com/office/drawing/2014/main" id="{AC0B4C91-EAFD-ADAA-0FC1-FB764A073ACB}"/>
              </a:ext>
            </a:extLst>
          </p:cNvPr>
          <p:cNvSpPr txBox="1"/>
          <p:nvPr/>
        </p:nvSpPr>
        <p:spPr>
          <a:xfrm>
            <a:off x="3659766" y="164550"/>
            <a:ext cx="4848041" cy="415498"/>
          </a:xfrm>
          <a:prstGeom prst="rect">
            <a:avLst/>
          </a:prstGeom>
          <a:noFill/>
          <a:ln w="28575">
            <a:solidFill>
              <a:sysClr val="windowText" lastClr="000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Heterozygotes/Homozygotes Ratio</a:t>
            </a:r>
          </a:p>
        </p:txBody>
      </p:sp>
      <p:pic>
        <p:nvPicPr>
          <p:cNvPr id="5" name="Picture 4">
            <a:extLst>
              <a:ext uri="{FF2B5EF4-FFF2-40B4-BE49-F238E27FC236}">
                <a16:creationId xmlns:a16="http://schemas.microsoft.com/office/drawing/2014/main" id="{B5D234F8-93F3-8D27-773C-16550CDDC4C0}"/>
              </a:ext>
            </a:extLst>
          </p:cNvPr>
          <p:cNvPicPr>
            <a:picLocks noChangeAspect="1"/>
          </p:cNvPicPr>
          <p:nvPr/>
        </p:nvPicPr>
        <p:blipFill>
          <a:blip r:embed="rId2"/>
          <a:stretch>
            <a:fillRect/>
          </a:stretch>
        </p:blipFill>
        <p:spPr>
          <a:xfrm>
            <a:off x="80886" y="1288785"/>
            <a:ext cx="7607048" cy="3803524"/>
          </a:xfrm>
          <a:prstGeom prst="rect">
            <a:avLst/>
          </a:prstGeom>
        </p:spPr>
      </p:pic>
    </p:spTree>
    <p:extLst>
      <p:ext uri="{BB962C8B-B14F-4D97-AF65-F5344CB8AC3E}">
        <p14:creationId xmlns:p14="http://schemas.microsoft.com/office/powerpoint/2010/main" val="1118412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2B4D8-5A17-1D31-A056-9E689EF4851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C69C4E-8C68-928F-30EE-1BF79AFF62AB}"/>
              </a:ext>
            </a:extLst>
          </p:cNvPr>
          <p:cNvSpPr>
            <a:spLocks noGrp="1"/>
          </p:cNvSpPr>
          <p:nvPr>
            <p:ph type="sldNum" idx="12"/>
          </p:nvPr>
        </p:nvSpPr>
        <p:spPr/>
        <p:txBody>
          <a:bodyPr/>
          <a:lstStyle/>
          <a:p>
            <a:fld id="{00000000-1234-1234-1234-123412341234}" type="slidenum">
              <a:rPr lang="en-GB" smtClean="0"/>
              <a:pPr/>
              <a:t>13</a:t>
            </a:fld>
            <a:endParaRPr lang="en-GB"/>
          </a:p>
        </p:txBody>
      </p:sp>
      <p:sp>
        <p:nvSpPr>
          <p:cNvPr id="4" name="TextBox 3">
            <a:extLst>
              <a:ext uri="{FF2B5EF4-FFF2-40B4-BE49-F238E27FC236}">
                <a16:creationId xmlns:a16="http://schemas.microsoft.com/office/drawing/2014/main" id="{3520B482-5C12-6614-A4B6-33B38121C7E0}"/>
              </a:ext>
            </a:extLst>
          </p:cNvPr>
          <p:cNvSpPr txBox="1"/>
          <p:nvPr/>
        </p:nvSpPr>
        <p:spPr>
          <a:xfrm>
            <a:off x="2887974" y="181968"/>
            <a:ext cx="6416051" cy="415498"/>
          </a:xfrm>
          <a:prstGeom prst="rect">
            <a:avLst/>
          </a:prstGeom>
          <a:noFill/>
          <a:ln w="28575">
            <a:solidFill>
              <a:sysClr val="windowText" lastClr="000000"/>
            </a:solidFill>
          </a:ln>
        </p:spPr>
        <p:txBody>
          <a:bodyPr wrap="square" rtlCol="0" anchor="ctr">
            <a:spAutoFit/>
          </a:bodyPr>
          <a:lstStyle/>
          <a:p>
            <a:pPr algn="ctr">
              <a:defRPr/>
            </a:pPr>
            <a:r>
              <a:rPr kumimoji="0" lang="en-US" sz="2100" b="1" i="0" u="none" strike="noStrike" kern="0" cap="none" spc="0" normalizeH="0" baseline="0" noProof="0" dirty="0">
                <a:ln>
                  <a:noFill/>
                </a:ln>
                <a:solidFill>
                  <a:prstClr val="black"/>
                </a:solidFill>
                <a:effectLst/>
                <a:uLnTx/>
                <a:uFillTx/>
                <a:cs typeface="Arial" panose="020B0604020202020204" pitchFamily="34" charset="0"/>
              </a:rPr>
              <a:t>Heterozygotes/Homozygotes Ratio by Ancestry</a:t>
            </a:r>
          </a:p>
        </p:txBody>
      </p:sp>
      <p:pic>
        <p:nvPicPr>
          <p:cNvPr id="3" name="Picture 2">
            <a:extLst>
              <a:ext uri="{FF2B5EF4-FFF2-40B4-BE49-F238E27FC236}">
                <a16:creationId xmlns:a16="http://schemas.microsoft.com/office/drawing/2014/main" id="{7068445A-6D10-26D1-605A-8BEA998F5C9B}"/>
              </a:ext>
            </a:extLst>
          </p:cNvPr>
          <p:cNvPicPr>
            <a:picLocks noChangeAspect="1"/>
          </p:cNvPicPr>
          <p:nvPr/>
        </p:nvPicPr>
        <p:blipFill>
          <a:blip r:embed="rId2"/>
          <a:stretch>
            <a:fillRect/>
          </a:stretch>
        </p:blipFill>
        <p:spPr>
          <a:xfrm>
            <a:off x="589686" y="832598"/>
            <a:ext cx="10875148" cy="5437574"/>
          </a:xfrm>
          <a:prstGeom prst="rect">
            <a:avLst/>
          </a:prstGeom>
        </p:spPr>
      </p:pic>
    </p:spTree>
    <p:extLst>
      <p:ext uri="{BB962C8B-B14F-4D97-AF65-F5344CB8AC3E}">
        <p14:creationId xmlns:p14="http://schemas.microsoft.com/office/powerpoint/2010/main" val="707660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921D2E-E460-12EE-6743-A05E81C3E06D}"/>
              </a:ext>
            </a:extLst>
          </p:cNvPr>
          <p:cNvSpPr>
            <a:spLocks noGrp="1"/>
          </p:cNvSpPr>
          <p:nvPr>
            <p:ph type="title"/>
          </p:nvPr>
        </p:nvSpPr>
        <p:spPr/>
        <p:txBody>
          <a:bodyPr/>
          <a:lstStyle/>
          <a:p>
            <a:r>
              <a:rPr lang="en-US" dirty="0"/>
              <a:t>Merger appears correct from a technical standpoint</a:t>
            </a:r>
          </a:p>
        </p:txBody>
      </p:sp>
      <p:sp>
        <p:nvSpPr>
          <p:cNvPr id="4" name="Text Placeholder 3">
            <a:extLst>
              <a:ext uri="{FF2B5EF4-FFF2-40B4-BE49-F238E27FC236}">
                <a16:creationId xmlns:a16="http://schemas.microsoft.com/office/drawing/2014/main" id="{A8FC6FE2-FE75-FAEC-66A5-8EA5F3032337}"/>
              </a:ext>
            </a:extLst>
          </p:cNvPr>
          <p:cNvSpPr>
            <a:spLocks noGrp="1"/>
          </p:cNvSpPr>
          <p:nvPr>
            <p:ph type="body" idx="1"/>
          </p:nvPr>
        </p:nvSpPr>
        <p:spPr>
          <a:xfrm>
            <a:off x="972600" y="2984484"/>
            <a:ext cx="10251600" cy="3014800"/>
          </a:xfrm>
        </p:spPr>
        <p:txBody>
          <a:bodyPr/>
          <a:lstStyle/>
          <a:p>
            <a:r>
              <a:rPr lang="en-US" sz="2400" dirty="0"/>
              <a:t>In a fundamental sense there appears to be little difference in “quality” of the data related to source.</a:t>
            </a:r>
          </a:p>
          <a:p>
            <a:r>
              <a:rPr lang="en-US" sz="2400" dirty="0"/>
              <a:t>The ”same sites” with the “same alleles” seem called in both datasets.</a:t>
            </a:r>
          </a:p>
          <a:p>
            <a:r>
              <a:rPr lang="en-US" sz="2400" dirty="0"/>
              <a:t>Almost no QC has occurred yet (2 samples with more than 5% missing data were dropped, ~10,000 sites with more than 5% missing data dropped).   Nothing else</a:t>
            </a:r>
          </a:p>
          <a:p>
            <a:r>
              <a:rPr lang="en-US" sz="2400" dirty="0"/>
              <a:t>This dataset is ready for final “standard QC” and actual genetic analysis.</a:t>
            </a:r>
          </a:p>
          <a:p>
            <a:r>
              <a:rPr lang="en-US" sz="2400" dirty="0"/>
              <a:t>But let’s do some actual analysis for fun, before QC.</a:t>
            </a:r>
          </a:p>
        </p:txBody>
      </p:sp>
      <p:sp>
        <p:nvSpPr>
          <p:cNvPr id="2" name="Slide Number Placeholder 1">
            <a:extLst>
              <a:ext uri="{FF2B5EF4-FFF2-40B4-BE49-F238E27FC236}">
                <a16:creationId xmlns:a16="http://schemas.microsoft.com/office/drawing/2014/main" id="{1DF17FE9-8E4C-D801-47CE-C1B43F5C83A8}"/>
              </a:ext>
            </a:extLst>
          </p:cNvPr>
          <p:cNvSpPr>
            <a:spLocks noGrp="1"/>
          </p:cNvSpPr>
          <p:nvPr>
            <p:ph type="sldNum" idx="12"/>
          </p:nvPr>
        </p:nvSpPr>
        <p:spPr/>
        <p:txBody>
          <a:bodyPr/>
          <a:lstStyle/>
          <a:p>
            <a:fld id="{00000000-1234-1234-1234-123412341234}" type="slidenum">
              <a:rPr lang="en-GB" smtClean="0"/>
              <a:pPr/>
              <a:t>14</a:t>
            </a:fld>
            <a:endParaRPr lang="en-GB"/>
          </a:p>
        </p:txBody>
      </p:sp>
    </p:spTree>
    <p:extLst>
      <p:ext uri="{BB962C8B-B14F-4D97-AF65-F5344CB8AC3E}">
        <p14:creationId xmlns:p14="http://schemas.microsoft.com/office/powerpoint/2010/main" val="1227810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11FAA-6B00-5619-2FD9-BDEFA65EE585}"/>
              </a:ext>
            </a:extLst>
          </p:cNvPr>
          <p:cNvSpPr>
            <a:spLocks noGrp="1"/>
          </p:cNvSpPr>
          <p:nvPr>
            <p:ph type="ctrTitle"/>
          </p:nvPr>
        </p:nvSpPr>
        <p:spPr/>
        <p:txBody>
          <a:bodyPr>
            <a:normAutofit fontScale="90000"/>
          </a:bodyPr>
          <a:lstStyle/>
          <a:p>
            <a:r>
              <a:rPr lang="en-US" dirty="0"/>
              <a:t>Polygenic Risk Scores are far more portable between populations than you likely believe</a:t>
            </a:r>
          </a:p>
        </p:txBody>
      </p:sp>
      <p:sp>
        <p:nvSpPr>
          <p:cNvPr id="3" name="Subtitle 2">
            <a:extLst>
              <a:ext uri="{FF2B5EF4-FFF2-40B4-BE49-F238E27FC236}">
                <a16:creationId xmlns:a16="http://schemas.microsoft.com/office/drawing/2014/main" id="{3AAD0C4A-4FA6-2E02-6BC3-D536BAFEAED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13298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EC8AB-4DD7-0DE1-CB67-9F67348E4F43}"/>
              </a:ext>
            </a:extLst>
          </p:cNvPr>
          <p:cNvSpPr>
            <a:spLocks noGrp="1"/>
          </p:cNvSpPr>
          <p:nvPr>
            <p:ph type="title"/>
          </p:nvPr>
        </p:nvSpPr>
        <p:spPr/>
        <p:txBody>
          <a:bodyPr/>
          <a:lstStyle/>
          <a:p>
            <a:r>
              <a:rPr lang="en-US" dirty="0"/>
              <a:t>The way most people construct a PRS (</a:t>
            </a:r>
            <a:r>
              <a:rPr lang="en-US" i="1" dirty="0"/>
              <a:t>i.e.</a:t>
            </a:r>
            <a:r>
              <a:rPr lang="en-US" dirty="0"/>
              <a:t> the way the Broad has taught us to do it)</a:t>
            </a:r>
          </a:p>
        </p:txBody>
      </p:sp>
      <p:sp>
        <p:nvSpPr>
          <p:cNvPr id="3" name="Content Placeholder 2">
            <a:extLst>
              <a:ext uri="{FF2B5EF4-FFF2-40B4-BE49-F238E27FC236}">
                <a16:creationId xmlns:a16="http://schemas.microsoft.com/office/drawing/2014/main" id="{76AA7F5E-6FCA-5D19-D69F-ADB3F788DBFC}"/>
              </a:ext>
            </a:extLst>
          </p:cNvPr>
          <p:cNvSpPr>
            <a:spLocks noGrp="1"/>
          </p:cNvSpPr>
          <p:nvPr>
            <p:ph idx="1"/>
          </p:nvPr>
        </p:nvSpPr>
        <p:spPr>
          <a:xfrm>
            <a:off x="838200" y="1825625"/>
            <a:ext cx="5055973" cy="4562818"/>
          </a:xfrm>
        </p:spPr>
        <p:txBody>
          <a:bodyPr>
            <a:normAutofit lnSpcReduction="10000"/>
          </a:bodyPr>
          <a:lstStyle/>
          <a:p>
            <a:r>
              <a:rPr lang="en-US" sz="2400" dirty="0"/>
              <a:t>Estimate the OR for each SNP in the genome.</a:t>
            </a:r>
          </a:p>
          <a:p>
            <a:r>
              <a:rPr lang="en-US" sz="2400" dirty="0"/>
              <a:t>Pick a bunch of them.</a:t>
            </a:r>
          </a:p>
          <a:p>
            <a:r>
              <a:rPr lang="en-US" sz="2400" dirty="0"/>
              <a:t>Construct the PRS for individual j as the log of the OR for a SNP multiplied by the minor allele count.</a:t>
            </a:r>
          </a:p>
          <a:p>
            <a:r>
              <a:rPr lang="en-US" sz="2400" dirty="0"/>
              <a:t>Construct the OR for person j by taking e^(</a:t>
            </a:r>
            <a:r>
              <a:rPr lang="en-US" sz="2400" dirty="0" err="1"/>
              <a:t>prs_j</a:t>
            </a:r>
            <a:r>
              <a:rPr lang="en-US" sz="2400" dirty="0"/>
              <a:t>)</a:t>
            </a:r>
          </a:p>
          <a:p>
            <a:r>
              <a:rPr lang="en-US" sz="2400" dirty="0"/>
              <a:t>Kyle has shown you results for PRS calculated in this manner</a:t>
            </a:r>
          </a:p>
          <a:p>
            <a:endParaRPr lang="en-US" dirty="0"/>
          </a:p>
          <a:p>
            <a:endParaRPr lang="en-US" dirty="0"/>
          </a:p>
        </p:txBody>
      </p:sp>
      <p:pic>
        <p:nvPicPr>
          <p:cNvPr id="4" name="Picture 3">
            <a:extLst>
              <a:ext uri="{FF2B5EF4-FFF2-40B4-BE49-F238E27FC236}">
                <a16:creationId xmlns:a16="http://schemas.microsoft.com/office/drawing/2014/main" id="{4B6B8180-0A89-E63F-7D33-2C8625E3B5D3}"/>
              </a:ext>
            </a:extLst>
          </p:cNvPr>
          <p:cNvPicPr>
            <a:picLocks noChangeAspect="1"/>
          </p:cNvPicPr>
          <p:nvPr/>
        </p:nvPicPr>
        <p:blipFill>
          <a:blip r:embed="rId2"/>
          <a:stretch>
            <a:fillRect/>
          </a:stretch>
        </p:blipFill>
        <p:spPr>
          <a:xfrm>
            <a:off x="6017054" y="1690688"/>
            <a:ext cx="5503130" cy="1620922"/>
          </a:xfrm>
          <a:prstGeom prst="rect">
            <a:avLst/>
          </a:prstGeom>
        </p:spPr>
      </p:pic>
      <p:pic>
        <p:nvPicPr>
          <p:cNvPr id="5" name="Picture 4">
            <a:extLst>
              <a:ext uri="{FF2B5EF4-FFF2-40B4-BE49-F238E27FC236}">
                <a16:creationId xmlns:a16="http://schemas.microsoft.com/office/drawing/2014/main" id="{5E80B139-760B-9E03-AD70-2711E183F42E}"/>
              </a:ext>
            </a:extLst>
          </p:cNvPr>
          <p:cNvPicPr>
            <a:picLocks noChangeAspect="1"/>
          </p:cNvPicPr>
          <p:nvPr/>
        </p:nvPicPr>
        <p:blipFill>
          <a:blip r:embed="rId3"/>
          <a:stretch>
            <a:fillRect/>
          </a:stretch>
        </p:blipFill>
        <p:spPr>
          <a:xfrm>
            <a:off x="6656176" y="3868407"/>
            <a:ext cx="3587576" cy="768766"/>
          </a:xfrm>
          <a:prstGeom prst="rect">
            <a:avLst/>
          </a:prstGeom>
        </p:spPr>
      </p:pic>
    </p:spTree>
    <p:extLst>
      <p:ext uri="{BB962C8B-B14F-4D97-AF65-F5344CB8AC3E}">
        <p14:creationId xmlns:p14="http://schemas.microsoft.com/office/powerpoint/2010/main" val="1157934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7D7E1-3D5B-E0C4-DA75-A7F29321A373}"/>
              </a:ext>
            </a:extLst>
          </p:cNvPr>
          <p:cNvSpPr>
            <a:spLocks noGrp="1"/>
          </p:cNvSpPr>
          <p:nvPr>
            <p:ph type="title"/>
          </p:nvPr>
        </p:nvSpPr>
        <p:spPr>
          <a:xfrm>
            <a:off x="220362" y="179774"/>
            <a:ext cx="10515600" cy="1325563"/>
          </a:xfrm>
        </p:spPr>
        <p:txBody>
          <a:bodyPr/>
          <a:lstStyle/>
          <a:p>
            <a:r>
              <a:rPr lang="en-US" dirty="0"/>
              <a:t>PRS constructed in this fashion is notoriously “unportable” between study populations</a:t>
            </a:r>
          </a:p>
        </p:txBody>
      </p:sp>
      <p:sp>
        <p:nvSpPr>
          <p:cNvPr id="3" name="Content Placeholder 2">
            <a:extLst>
              <a:ext uri="{FF2B5EF4-FFF2-40B4-BE49-F238E27FC236}">
                <a16:creationId xmlns:a16="http://schemas.microsoft.com/office/drawing/2014/main" id="{95E124C9-AE1C-3104-972A-71AADB7051A7}"/>
              </a:ext>
            </a:extLst>
          </p:cNvPr>
          <p:cNvSpPr>
            <a:spLocks noGrp="1"/>
          </p:cNvSpPr>
          <p:nvPr>
            <p:ph idx="1"/>
          </p:nvPr>
        </p:nvSpPr>
        <p:spPr>
          <a:xfrm>
            <a:off x="349101" y="1505337"/>
            <a:ext cx="11036643" cy="4876327"/>
          </a:xfrm>
        </p:spPr>
        <p:txBody>
          <a:bodyPr>
            <a:normAutofit/>
          </a:bodyPr>
          <a:lstStyle/>
          <a:p>
            <a:r>
              <a:rPr lang="en-US" sz="2400" dirty="0"/>
              <a:t>Everyone on this call knows PRS constructed in this manner does very “poorly” in African ancestry populations (as Kyle showed).</a:t>
            </a:r>
          </a:p>
          <a:p>
            <a:r>
              <a:rPr lang="en-US" sz="2400" dirty="0"/>
              <a:t>Why is this?</a:t>
            </a:r>
          </a:p>
          <a:p>
            <a:r>
              <a:rPr lang="en-US" sz="2400" dirty="0"/>
              <a:t>Lots of reasons, but a truly significant fraction of the problem derives from the fact that a SNP’s OR is a function of the allele frequency in the population in which it was measured!</a:t>
            </a:r>
          </a:p>
          <a:p>
            <a:r>
              <a:rPr lang="en-US" sz="2400" dirty="0"/>
              <a:t>If populations have different allele frequencies they must have different OR’s.    </a:t>
            </a:r>
          </a:p>
          <a:p>
            <a:r>
              <a:rPr lang="en-US" sz="2400" dirty="0"/>
              <a:t>Any SNP with allele frequency differences between ancestries will necessarily have differing OR’s across ancestries.</a:t>
            </a:r>
          </a:p>
          <a:p>
            <a:r>
              <a:rPr lang="en-US" sz="2400" dirty="0"/>
              <a:t>But, this is super easy to correct.</a:t>
            </a:r>
          </a:p>
        </p:txBody>
      </p:sp>
    </p:spTree>
    <p:extLst>
      <p:ext uri="{BB962C8B-B14F-4D97-AF65-F5344CB8AC3E}">
        <p14:creationId xmlns:p14="http://schemas.microsoft.com/office/powerpoint/2010/main" val="2503569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E8BF-2378-B348-11F4-142F901E5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22C28-27A7-60F0-CC69-9FB3AAA0851C}"/>
              </a:ext>
            </a:extLst>
          </p:cNvPr>
          <p:cNvSpPr>
            <a:spLocks noGrp="1"/>
          </p:cNvSpPr>
          <p:nvPr>
            <p:ph type="title"/>
          </p:nvPr>
        </p:nvSpPr>
        <p:spPr>
          <a:xfrm>
            <a:off x="401422" y="361544"/>
            <a:ext cx="6662352" cy="1945588"/>
          </a:xfrm>
        </p:spPr>
        <p:txBody>
          <a:bodyPr/>
          <a:lstStyle/>
          <a:p>
            <a:r>
              <a:rPr lang="en-US" dirty="0"/>
              <a:t>Convert effects from the OR scale to the liability scale</a:t>
            </a:r>
          </a:p>
        </p:txBody>
      </p:sp>
      <p:pic>
        <p:nvPicPr>
          <p:cNvPr id="5" name="Picture 4">
            <a:extLst>
              <a:ext uri="{FF2B5EF4-FFF2-40B4-BE49-F238E27FC236}">
                <a16:creationId xmlns:a16="http://schemas.microsoft.com/office/drawing/2014/main" id="{D8580666-40E7-BF88-FBA9-8CADBB4CA346}"/>
              </a:ext>
            </a:extLst>
          </p:cNvPr>
          <p:cNvPicPr>
            <a:picLocks noChangeAspect="1"/>
          </p:cNvPicPr>
          <p:nvPr/>
        </p:nvPicPr>
        <p:blipFill>
          <a:blip r:embed="rId2"/>
          <a:stretch>
            <a:fillRect/>
          </a:stretch>
        </p:blipFill>
        <p:spPr>
          <a:xfrm>
            <a:off x="7235340" y="625219"/>
            <a:ext cx="4956660" cy="4876326"/>
          </a:xfrm>
          <a:prstGeom prst="rect">
            <a:avLst/>
          </a:prstGeom>
        </p:spPr>
      </p:pic>
      <p:sp>
        <p:nvSpPr>
          <p:cNvPr id="7" name="Content Placeholder 6">
            <a:extLst>
              <a:ext uri="{FF2B5EF4-FFF2-40B4-BE49-F238E27FC236}">
                <a16:creationId xmlns:a16="http://schemas.microsoft.com/office/drawing/2014/main" id="{C62FE928-70A0-65EE-B65F-6AEF0819262A}"/>
              </a:ext>
            </a:extLst>
          </p:cNvPr>
          <p:cNvSpPr>
            <a:spLocks noGrp="1"/>
          </p:cNvSpPr>
          <p:nvPr>
            <p:ph idx="1"/>
          </p:nvPr>
        </p:nvSpPr>
        <p:spPr>
          <a:xfrm>
            <a:off x="628134" y="2031119"/>
            <a:ext cx="6229865" cy="2281389"/>
          </a:xfrm>
        </p:spPr>
        <p:txBody>
          <a:bodyPr/>
          <a:lstStyle/>
          <a:p>
            <a:r>
              <a:rPr lang="en-US" sz="2400" dirty="0"/>
              <a:t>To do this, we need to know the overall prevalence of the disease, and the frequency of the allele in the population where effect sizes were estimated</a:t>
            </a:r>
          </a:p>
        </p:txBody>
      </p:sp>
      <p:pic>
        <p:nvPicPr>
          <p:cNvPr id="8" name="Picture 7">
            <a:extLst>
              <a:ext uri="{FF2B5EF4-FFF2-40B4-BE49-F238E27FC236}">
                <a16:creationId xmlns:a16="http://schemas.microsoft.com/office/drawing/2014/main" id="{6342C2CD-1C9E-C712-5E0D-2E2B81C03A1F}"/>
              </a:ext>
            </a:extLst>
          </p:cNvPr>
          <p:cNvPicPr>
            <a:picLocks noChangeAspect="1"/>
          </p:cNvPicPr>
          <p:nvPr/>
        </p:nvPicPr>
        <p:blipFill>
          <a:blip r:embed="rId3"/>
          <a:stretch>
            <a:fillRect/>
          </a:stretch>
        </p:blipFill>
        <p:spPr>
          <a:xfrm>
            <a:off x="1010191" y="4124068"/>
            <a:ext cx="2400300" cy="1511300"/>
          </a:xfrm>
          <a:prstGeom prst="rect">
            <a:avLst/>
          </a:prstGeom>
        </p:spPr>
      </p:pic>
      <p:pic>
        <p:nvPicPr>
          <p:cNvPr id="9" name="Picture 8">
            <a:extLst>
              <a:ext uri="{FF2B5EF4-FFF2-40B4-BE49-F238E27FC236}">
                <a16:creationId xmlns:a16="http://schemas.microsoft.com/office/drawing/2014/main" id="{EF3B9FC1-DAFB-134D-31AA-AA9A47CAA209}"/>
              </a:ext>
            </a:extLst>
          </p:cNvPr>
          <p:cNvPicPr>
            <a:picLocks noChangeAspect="1"/>
          </p:cNvPicPr>
          <p:nvPr/>
        </p:nvPicPr>
        <p:blipFill>
          <a:blip r:embed="rId4"/>
          <a:stretch>
            <a:fillRect/>
          </a:stretch>
        </p:blipFill>
        <p:spPr>
          <a:xfrm>
            <a:off x="3582057" y="4259992"/>
            <a:ext cx="3048000" cy="1422400"/>
          </a:xfrm>
          <a:prstGeom prst="rect">
            <a:avLst/>
          </a:prstGeom>
        </p:spPr>
      </p:pic>
    </p:spTree>
    <p:extLst>
      <p:ext uri="{BB962C8B-B14F-4D97-AF65-F5344CB8AC3E}">
        <p14:creationId xmlns:p14="http://schemas.microsoft.com/office/powerpoint/2010/main" val="3113349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B2B4-7894-4047-154C-5DF36FFF2ED5}"/>
              </a:ext>
            </a:extLst>
          </p:cNvPr>
          <p:cNvSpPr>
            <a:spLocks noGrp="1"/>
          </p:cNvSpPr>
          <p:nvPr>
            <p:ph type="title"/>
          </p:nvPr>
        </p:nvSpPr>
        <p:spPr>
          <a:xfrm>
            <a:off x="220362" y="265284"/>
            <a:ext cx="10515600" cy="1325563"/>
          </a:xfrm>
        </p:spPr>
        <p:txBody>
          <a:bodyPr/>
          <a:lstStyle/>
          <a:p>
            <a:r>
              <a:rPr lang="en-US" dirty="0"/>
              <a:t>To apply a PRS to a new individual, j</a:t>
            </a:r>
          </a:p>
        </p:txBody>
      </p:sp>
      <p:sp>
        <p:nvSpPr>
          <p:cNvPr id="3" name="Content Placeholder 2">
            <a:extLst>
              <a:ext uri="{FF2B5EF4-FFF2-40B4-BE49-F238E27FC236}">
                <a16:creationId xmlns:a16="http://schemas.microsoft.com/office/drawing/2014/main" id="{7F2874D5-62AE-392E-DB0B-F897353A64EE}"/>
              </a:ext>
            </a:extLst>
          </p:cNvPr>
          <p:cNvSpPr>
            <a:spLocks noGrp="1"/>
          </p:cNvSpPr>
          <p:nvPr>
            <p:ph idx="1"/>
          </p:nvPr>
        </p:nvSpPr>
        <p:spPr>
          <a:xfrm>
            <a:off x="306859" y="1442565"/>
            <a:ext cx="6415216" cy="4575175"/>
          </a:xfrm>
        </p:spPr>
        <p:txBody>
          <a:bodyPr>
            <a:normAutofit/>
          </a:bodyPr>
          <a:lstStyle/>
          <a:p>
            <a:r>
              <a:rPr lang="en-US" sz="2400" dirty="0"/>
              <a:t>Convert effect sizes in the training study to the liability scale.</a:t>
            </a:r>
          </a:p>
          <a:p>
            <a:r>
              <a:rPr lang="en-US" sz="2400" dirty="0"/>
              <a:t>With those effects in hand, you can apply them to ~anyone~ with reasonable results just so long as you know the ”population” allele frequencies for the person you are applying it to.</a:t>
            </a:r>
          </a:p>
          <a:p>
            <a:r>
              <a:rPr lang="en-US" sz="2400" dirty="0">
                <a:solidFill>
                  <a:srgbClr val="FF0000"/>
                </a:solidFill>
              </a:rPr>
              <a:t>The key idea: we need to use a minor allele frequency q</a:t>
            </a:r>
            <a:r>
              <a:rPr lang="en-US" sz="2400" baseline="-25000" dirty="0">
                <a:solidFill>
                  <a:srgbClr val="FF0000"/>
                </a:solidFill>
              </a:rPr>
              <a:t>v</a:t>
            </a:r>
            <a:r>
              <a:rPr lang="en-US" sz="2400" dirty="0">
                <a:solidFill>
                  <a:srgbClr val="FF0000"/>
                </a:solidFill>
              </a:rPr>
              <a:t> that is “correct” for individual j, given j’s actual ancestry </a:t>
            </a:r>
          </a:p>
          <a:p>
            <a:endParaRPr lang="en-US" dirty="0"/>
          </a:p>
        </p:txBody>
      </p:sp>
      <p:pic>
        <p:nvPicPr>
          <p:cNvPr id="4" name="Picture 3">
            <a:extLst>
              <a:ext uri="{FF2B5EF4-FFF2-40B4-BE49-F238E27FC236}">
                <a16:creationId xmlns:a16="http://schemas.microsoft.com/office/drawing/2014/main" id="{BF61FA4A-0E67-9683-A86D-55D18CAE58A6}"/>
              </a:ext>
            </a:extLst>
          </p:cNvPr>
          <p:cNvPicPr>
            <a:picLocks noChangeAspect="1"/>
          </p:cNvPicPr>
          <p:nvPr/>
        </p:nvPicPr>
        <p:blipFill>
          <a:blip r:embed="rId2"/>
          <a:stretch>
            <a:fillRect/>
          </a:stretch>
        </p:blipFill>
        <p:spPr>
          <a:xfrm>
            <a:off x="6722075" y="3144622"/>
            <a:ext cx="5525171" cy="3215933"/>
          </a:xfrm>
          <a:prstGeom prst="rect">
            <a:avLst/>
          </a:prstGeom>
        </p:spPr>
      </p:pic>
      <p:pic>
        <p:nvPicPr>
          <p:cNvPr id="5" name="Picture 4">
            <a:extLst>
              <a:ext uri="{FF2B5EF4-FFF2-40B4-BE49-F238E27FC236}">
                <a16:creationId xmlns:a16="http://schemas.microsoft.com/office/drawing/2014/main" id="{0DAC0600-B5BA-4A1B-C757-776F484E9A84}"/>
              </a:ext>
            </a:extLst>
          </p:cNvPr>
          <p:cNvPicPr>
            <a:picLocks noChangeAspect="1"/>
          </p:cNvPicPr>
          <p:nvPr/>
        </p:nvPicPr>
        <p:blipFill>
          <a:blip r:embed="rId3"/>
          <a:stretch>
            <a:fillRect/>
          </a:stretch>
        </p:blipFill>
        <p:spPr>
          <a:xfrm>
            <a:off x="8273727" y="864453"/>
            <a:ext cx="3937941" cy="1159903"/>
          </a:xfrm>
          <a:prstGeom prst="rect">
            <a:avLst/>
          </a:prstGeom>
        </p:spPr>
      </p:pic>
      <p:sp>
        <p:nvSpPr>
          <p:cNvPr id="7" name="Rectangle 6">
            <a:extLst>
              <a:ext uri="{FF2B5EF4-FFF2-40B4-BE49-F238E27FC236}">
                <a16:creationId xmlns:a16="http://schemas.microsoft.com/office/drawing/2014/main" id="{8FEA219E-A8F3-33D4-DFB1-921EDE06CFDA}"/>
              </a:ext>
            </a:extLst>
          </p:cNvPr>
          <p:cNvSpPr/>
          <p:nvPr/>
        </p:nvSpPr>
        <p:spPr>
          <a:xfrm>
            <a:off x="9578093" y="402788"/>
            <a:ext cx="1329210"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Not</a:t>
            </a:r>
          </a:p>
        </p:txBody>
      </p:sp>
      <p:sp>
        <p:nvSpPr>
          <p:cNvPr id="8" name="Rectangle 7">
            <a:extLst>
              <a:ext uri="{FF2B5EF4-FFF2-40B4-BE49-F238E27FC236}">
                <a16:creationId xmlns:a16="http://schemas.microsoft.com/office/drawing/2014/main" id="{F834D6A0-1D12-2A75-636C-9EBAE4EEEFE2}"/>
              </a:ext>
            </a:extLst>
          </p:cNvPr>
          <p:cNvSpPr/>
          <p:nvPr/>
        </p:nvSpPr>
        <p:spPr>
          <a:xfrm>
            <a:off x="7965798" y="2418228"/>
            <a:ext cx="3919343" cy="923330"/>
          </a:xfrm>
          <a:prstGeom prst="rect">
            <a:avLst/>
          </a:prstGeom>
          <a:noFill/>
        </p:spPr>
        <p:txBody>
          <a:bodyPr wrap="none" lIns="91440" tIns="45720" rIns="91440" bIns="45720">
            <a:spAutoFit/>
          </a:bodyPr>
          <a:lstStyle/>
          <a:p>
            <a:pPr algn="ctr"/>
            <a:r>
              <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Instead Use</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1571683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421C-E39A-4436-1048-3D86091F1414}"/>
              </a:ext>
            </a:extLst>
          </p:cNvPr>
          <p:cNvSpPr>
            <a:spLocks noGrp="1"/>
          </p:cNvSpPr>
          <p:nvPr>
            <p:ph type="title"/>
          </p:nvPr>
        </p:nvSpPr>
        <p:spPr>
          <a:xfrm>
            <a:off x="208005" y="178787"/>
            <a:ext cx="10515600" cy="1325563"/>
          </a:xfrm>
        </p:spPr>
        <p:txBody>
          <a:bodyPr/>
          <a:lstStyle/>
          <a:p>
            <a:r>
              <a:rPr lang="en-US" dirty="0"/>
              <a:t>The annoying bit, solved by </a:t>
            </a:r>
            <a:r>
              <a:rPr lang="en-US" dirty="0" err="1"/>
              <a:t>bystro</a:t>
            </a:r>
            <a:endParaRPr lang="en-US" dirty="0"/>
          </a:p>
        </p:txBody>
      </p:sp>
      <p:sp>
        <p:nvSpPr>
          <p:cNvPr id="3" name="Content Placeholder 2">
            <a:extLst>
              <a:ext uri="{FF2B5EF4-FFF2-40B4-BE49-F238E27FC236}">
                <a16:creationId xmlns:a16="http://schemas.microsoft.com/office/drawing/2014/main" id="{DA4D697C-BFF4-6A9A-A953-39C7B5C64D9A}"/>
              </a:ext>
            </a:extLst>
          </p:cNvPr>
          <p:cNvSpPr>
            <a:spLocks noGrp="1"/>
          </p:cNvSpPr>
          <p:nvPr>
            <p:ph idx="1"/>
          </p:nvPr>
        </p:nvSpPr>
        <p:spPr>
          <a:xfrm>
            <a:off x="208005" y="841568"/>
            <a:ext cx="7022135" cy="5837645"/>
          </a:xfrm>
        </p:spPr>
        <p:txBody>
          <a:bodyPr>
            <a:noAutofit/>
          </a:bodyPr>
          <a:lstStyle/>
          <a:p>
            <a:r>
              <a:rPr lang="en-US" sz="2000" dirty="0"/>
              <a:t>To apply a PRS to a new individual we need an estimate of that person’s ancestry, and knowledge of the allele frequencies in the populations that person’s ancestors came from.</a:t>
            </a:r>
          </a:p>
          <a:p>
            <a:r>
              <a:rPr lang="en-US" sz="2000" dirty="0" err="1"/>
              <a:t>Bystro</a:t>
            </a:r>
            <a:r>
              <a:rPr lang="en-US" sz="2000" dirty="0"/>
              <a:t> provides an estimate of ancestry probabilities, which we use here as an estimate of the fraction of their ancestry that came from the given population.</a:t>
            </a:r>
          </a:p>
          <a:p>
            <a:r>
              <a:rPr lang="en-US" sz="2000" dirty="0" err="1"/>
              <a:t>Bystro</a:t>
            </a:r>
            <a:r>
              <a:rPr lang="en-US" sz="2000" dirty="0"/>
              <a:t> also stores and reports all </a:t>
            </a:r>
            <a:r>
              <a:rPr lang="en-US" sz="2000" dirty="0" err="1"/>
              <a:t>gnomad</a:t>
            </a:r>
            <a:r>
              <a:rPr lang="en-US" sz="2000" dirty="0"/>
              <a:t> population allele frequencies.</a:t>
            </a:r>
          </a:p>
          <a:p>
            <a:r>
              <a:rPr lang="en-US" sz="2000" dirty="0"/>
              <a:t>Thus, we can calculate an individual allele frequency </a:t>
            </a:r>
            <a:r>
              <a:rPr lang="en-US" sz="2000" dirty="0" err="1"/>
              <a:t>q</a:t>
            </a:r>
            <a:r>
              <a:rPr lang="en-US" sz="2000" baseline="-25000" dirty="0" err="1"/>
              <a:t>vj</a:t>
            </a:r>
            <a:r>
              <a:rPr lang="en-US" sz="2000" dirty="0"/>
              <a:t> at every SNP v in every person j, by averaging the </a:t>
            </a:r>
            <a:r>
              <a:rPr lang="en-US" sz="2000" dirty="0" err="1"/>
              <a:t>gnomad</a:t>
            </a:r>
            <a:r>
              <a:rPr lang="en-US" sz="2000" dirty="0"/>
              <a:t> allele frequency weighted by the fraction of individual j’s ancestors that came from that population.</a:t>
            </a:r>
          </a:p>
          <a:p>
            <a:r>
              <a:rPr lang="en-US" sz="2000" dirty="0"/>
              <a:t>From the PRS for person j we can convert this back to a probability person j will eventually develop disease, and an OR for person j.</a:t>
            </a:r>
          </a:p>
        </p:txBody>
      </p:sp>
      <p:pic>
        <p:nvPicPr>
          <p:cNvPr id="5" name="Picture 4">
            <a:extLst>
              <a:ext uri="{FF2B5EF4-FFF2-40B4-BE49-F238E27FC236}">
                <a16:creationId xmlns:a16="http://schemas.microsoft.com/office/drawing/2014/main" id="{9B4D6905-E69E-F6D9-AA2A-5A259183A014}"/>
              </a:ext>
            </a:extLst>
          </p:cNvPr>
          <p:cNvPicPr>
            <a:picLocks noChangeAspect="1"/>
          </p:cNvPicPr>
          <p:nvPr/>
        </p:nvPicPr>
        <p:blipFill>
          <a:blip r:embed="rId2"/>
          <a:stretch>
            <a:fillRect/>
          </a:stretch>
        </p:blipFill>
        <p:spPr>
          <a:xfrm>
            <a:off x="7346761" y="841568"/>
            <a:ext cx="4637234" cy="2699108"/>
          </a:xfrm>
          <a:prstGeom prst="rect">
            <a:avLst/>
          </a:prstGeom>
        </p:spPr>
      </p:pic>
      <p:pic>
        <p:nvPicPr>
          <p:cNvPr id="6" name="Picture 5">
            <a:extLst>
              <a:ext uri="{FF2B5EF4-FFF2-40B4-BE49-F238E27FC236}">
                <a16:creationId xmlns:a16="http://schemas.microsoft.com/office/drawing/2014/main" id="{B9C13B66-C17E-39F4-05DB-37A2FDED362C}"/>
              </a:ext>
            </a:extLst>
          </p:cNvPr>
          <p:cNvPicPr>
            <a:picLocks noChangeAspect="1"/>
          </p:cNvPicPr>
          <p:nvPr/>
        </p:nvPicPr>
        <p:blipFill>
          <a:blip r:embed="rId3"/>
          <a:stretch>
            <a:fillRect/>
          </a:stretch>
        </p:blipFill>
        <p:spPr>
          <a:xfrm>
            <a:off x="7604333" y="3990315"/>
            <a:ext cx="4379662" cy="1734396"/>
          </a:xfrm>
          <a:prstGeom prst="rect">
            <a:avLst/>
          </a:prstGeom>
        </p:spPr>
      </p:pic>
    </p:spTree>
    <p:extLst>
      <p:ext uri="{BB962C8B-B14F-4D97-AF65-F5344CB8AC3E}">
        <p14:creationId xmlns:p14="http://schemas.microsoft.com/office/powerpoint/2010/main" val="3461103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6322-414B-A08C-B156-9E380047D677}"/>
              </a:ext>
            </a:extLst>
          </p:cNvPr>
          <p:cNvSpPr>
            <a:spLocks noGrp="1"/>
          </p:cNvSpPr>
          <p:nvPr>
            <p:ph type="title"/>
          </p:nvPr>
        </p:nvSpPr>
        <p:spPr>
          <a:xfrm>
            <a:off x="250367" y="110805"/>
            <a:ext cx="11691265" cy="1325563"/>
          </a:xfrm>
        </p:spPr>
        <p:txBody>
          <a:bodyPr>
            <a:normAutofit/>
          </a:bodyPr>
          <a:lstStyle/>
          <a:p>
            <a:r>
              <a:rPr lang="en-US" dirty="0"/>
              <a:t>PRS constructed in this fashion is portable and ought to work well in just about anyone</a:t>
            </a:r>
          </a:p>
        </p:txBody>
      </p:sp>
      <p:sp>
        <p:nvSpPr>
          <p:cNvPr id="3" name="Content Placeholder 2">
            <a:extLst>
              <a:ext uri="{FF2B5EF4-FFF2-40B4-BE49-F238E27FC236}">
                <a16:creationId xmlns:a16="http://schemas.microsoft.com/office/drawing/2014/main" id="{200FC7E0-67A6-ED25-AB67-EC9DD8DBA709}"/>
              </a:ext>
            </a:extLst>
          </p:cNvPr>
          <p:cNvSpPr>
            <a:spLocks noGrp="1"/>
          </p:cNvSpPr>
          <p:nvPr>
            <p:ph idx="1"/>
          </p:nvPr>
        </p:nvSpPr>
        <p:spPr>
          <a:xfrm>
            <a:off x="566350" y="1468266"/>
            <a:ext cx="11123141" cy="5247029"/>
          </a:xfrm>
        </p:spPr>
        <p:txBody>
          <a:bodyPr>
            <a:normAutofit fontScale="92500" lnSpcReduction="20000"/>
          </a:bodyPr>
          <a:lstStyle/>
          <a:p>
            <a:r>
              <a:rPr lang="en-US" sz="2400" dirty="0"/>
              <a:t>Properties you expect from your PRS:</a:t>
            </a:r>
          </a:p>
          <a:p>
            <a:r>
              <a:rPr lang="en-US" sz="2400" dirty="0"/>
              <a:t>Cases: average PRS should be greater than 0.</a:t>
            </a:r>
          </a:p>
          <a:p>
            <a:r>
              <a:rPr lang="en-US" sz="2400" dirty="0"/>
              <a:t>Controls: average PRS should be less than 0.</a:t>
            </a:r>
          </a:p>
          <a:p>
            <a:r>
              <a:rPr lang="en-US" sz="2400" dirty="0"/>
              <a:t>Cases: average OR should be bigger than 1.</a:t>
            </a:r>
          </a:p>
          <a:p>
            <a:r>
              <a:rPr lang="en-US" sz="2400" dirty="0"/>
              <a:t>Controls: average OR should be less than 1.</a:t>
            </a:r>
          </a:p>
          <a:p>
            <a:r>
              <a:rPr lang="en-US" sz="2400" dirty="0"/>
              <a:t>Differences between cases and controls shouldn’t depend too much on ancestry.</a:t>
            </a:r>
          </a:p>
          <a:p>
            <a:r>
              <a:rPr lang="en-US" sz="2400" dirty="0"/>
              <a:t>This should certainly not depend on data source (BGE vs WGS).</a:t>
            </a:r>
          </a:p>
          <a:p>
            <a:r>
              <a:rPr lang="en-US" sz="2400" dirty="0"/>
              <a:t>Caveats:</a:t>
            </a:r>
          </a:p>
          <a:p>
            <a:pPr lvl="1"/>
            <a:r>
              <a:rPr lang="en-US" sz="1900" dirty="0"/>
              <a:t>Because the variance explained by the PRS is a function of allele frequencies and allele frequencies differ between populations, the PRS explanatory power will differ somewhat between populations, but this is “correct.”   It should differ, but still lead to an interpretable result.</a:t>
            </a:r>
          </a:p>
          <a:p>
            <a:pPr lvl="1"/>
            <a:r>
              <a:rPr lang="en-US" sz="1900" dirty="0"/>
              <a:t>Because PRS is a function of the estimated effect sizes, if non-casual SNPs are included, LD differences between population estimated effects will be “wrong” in differing ways between individuals of differing ancestries.  </a:t>
            </a:r>
          </a:p>
          <a:p>
            <a:pPr lvl="1"/>
            <a:r>
              <a:rPr lang="en-US" sz="1900" dirty="0"/>
              <a:t>Noise / inaccuracy in ancestry inference should lead to biases in the inferred PRS.</a:t>
            </a:r>
          </a:p>
        </p:txBody>
      </p:sp>
    </p:spTree>
    <p:extLst>
      <p:ext uri="{BB962C8B-B14F-4D97-AF65-F5344CB8AC3E}">
        <p14:creationId xmlns:p14="http://schemas.microsoft.com/office/powerpoint/2010/main" val="518684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83F1-B942-5E90-56CF-F356AF9453C4}"/>
              </a:ext>
            </a:extLst>
          </p:cNvPr>
          <p:cNvSpPr>
            <a:spLocks noGrp="1"/>
          </p:cNvSpPr>
          <p:nvPr>
            <p:ph type="title"/>
          </p:nvPr>
        </p:nvSpPr>
        <p:spPr>
          <a:xfrm>
            <a:off x="242775" y="152474"/>
            <a:ext cx="11580629" cy="1325563"/>
          </a:xfrm>
        </p:spPr>
        <p:txBody>
          <a:bodyPr/>
          <a:lstStyle/>
          <a:p>
            <a:r>
              <a:rPr lang="en-US" dirty="0"/>
              <a:t>Applying Liu 2015 to the merged mega dataset</a:t>
            </a:r>
          </a:p>
        </p:txBody>
      </p:sp>
      <p:sp>
        <p:nvSpPr>
          <p:cNvPr id="3" name="Content Placeholder 2">
            <a:extLst>
              <a:ext uri="{FF2B5EF4-FFF2-40B4-BE49-F238E27FC236}">
                <a16:creationId xmlns:a16="http://schemas.microsoft.com/office/drawing/2014/main" id="{01D8F038-6D4E-7E05-E946-16F7DAC364E5}"/>
              </a:ext>
            </a:extLst>
          </p:cNvPr>
          <p:cNvSpPr>
            <a:spLocks noGrp="1"/>
          </p:cNvSpPr>
          <p:nvPr>
            <p:ph idx="1"/>
          </p:nvPr>
        </p:nvSpPr>
        <p:spPr>
          <a:xfrm>
            <a:off x="593650" y="1478037"/>
            <a:ext cx="11523921" cy="5071287"/>
          </a:xfrm>
        </p:spPr>
        <p:txBody>
          <a:bodyPr/>
          <a:lstStyle/>
          <a:p>
            <a:r>
              <a:rPr lang="en-US" sz="2400" dirty="0"/>
              <a:t>Let’s see how this works.   I’m going to use effect sizes for CD from Liu 2015 for CD (mostly European with a small Asian fraction).</a:t>
            </a:r>
          </a:p>
          <a:p>
            <a:r>
              <a:rPr lang="en-US" sz="2400" dirty="0"/>
              <a:t>Apply this to the merged BGE / WGS dataset with…no real QC</a:t>
            </a:r>
          </a:p>
          <a:p>
            <a:r>
              <a:rPr lang="en-US" sz="2400" dirty="0"/>
              <a:t>Only 2 samples dropped with more than 5% missing data, and less than 10,000 variants dropped due to missing data.</a:t>
            </a:r>
          </a:p>
          <a:p>
            <a:r>
              <a:rPr lang="en-US" sz="2400" dirty="0"/>
              <a:t>I am going to pick SNPs to include in the simplest possible way.</a:t>
            </a:r>
          </a:p>
          <a:p>
            <a:r>
              <a:rPr lang="en-US" sz="2400" dirty="0"/>
              <a:t>For each </a:t>
            </a:r>
            <a:r>
              <a:rPr lang="en-US" sz="2400" dirty="0" err="1"/>
              <a:t>megabase</a:t>
            </a:r>
            <a:r>
              <a:rPr lang="en-US" sz="2400" dirty="0"/>
              <a:t> I pick the single SNP with the lowest p-value.  </a:t>
            </a:r>
          </a:p>
          <a:p>
            <a:r>
              <a:rPr lang="en-US" sz="2400" dirty="0"/>
              <a:t>I include that SNP only if p &lt; 5 x 10</a:t>
            </a:r>
            <a:r>
              <a:rPr lang="en-US" sz="2400" baseline="30000" dirty="0"/>
              <a:t>-8</a:t>
            </a:r>
            <a:r>
              <a:rPr lang="en-US" sz="2400" dirty="0"/>
              <a:t>.</a:t>
            </a:r>
            <a:endParaRPr lang="en-US" sz="2400" baseline="30000" dirty="0"/>
          </a:p>
        </p:txBody>
      </p:sp>
    </p:spTree>
    <p:extLst>
      <p:ext uri="{BB962C8B-B14F-4D97-AF65-F5344CB8AC3E}">
        <p14:creationId xmlns:p14="http://schemas.microsoft.com/office/powerpoint/2010/main" val="2661085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655C-B285-C73D-EC93-1B7A254084C4}"/>
              </a:ext>
            </a:extLst>
          </p:cNvPr>
          <p:cNvSpPr>
            <a:spLocks noGrp="1"/>
          </p:cNvSpPr>
          <p:nvPr>
            <p:ph type="title"/>
          </p:nvPr>
        </p:nvSpPr>
        <p:spPr>
          <a:xfrm>
            <a:off x="274674" y="-102707"/>
            <a:ext cx="10515600" cy="1325563"/>
          </a:xfrm>
        </p:spPr>
        <p:txBody>
          <a:bodyPr/>
          <a:lstStyle/>
          <a:p>
            <a:r>
              <a:rPr lang="en-US" dirty="0"/>
              <a:t>Everything looks good</a:t>
            </a:r>
          </a:p>
        </p:txBody>
      </p:sp>
      <p:sp>
        <p:nvSpPr>
          <p:cNvPr id="3" name="Content Placeholder 2">
            <a:extLst>
              <a:ext uri="{FF2B5EF4-FFF2-40B4-BE49-F238E27FC236}">
                <a16:creationId xmlns:a16="http://schemas.microsoft.com/office/drawing/2014/main" id="{55E9B632-0496-CE08-0983-97D4B59733C1}"/>
              </a:ext>
            </a:extLst>
          </p:cNvPr>
          <p:cNvSpPr>
            <a:spLocks noGrp="1"/>
          </p:cNvSpPr>
          <p:nvPr>
            <p:ph idx="1"/>
          </p:nvPr>
        </p:nvSpPr>
        <p:spPr>
          <a:xfrm>
            <a:off x="681873" y="4267065"/>
            <a:ext cx="11000069" cy="2314489"/>
          </a:xfrm>
        </p:spPr>
        <p:txBody>
          <a:bodyPr>
            <a:noAutofit/>
          </a:bodyPr>
          <a:lstStyle/>
          <a:p>
            <a:r>
              <a:rPr lang="en-US" sz="2000" dirty="0"/>
              <a:t>”UC” is actually both proper UC together with IBD unspecified.</a:t>
            </a:r>
          </a:p>
          <a:p>
            <a:r>
              <a:rPr lang="en-US" sz="2000" dirty="0"/>
              <a:t>AFR is the only well powered ancestry but overall PRS scores look completely as expected.</a:t>
            </a:r>
          </a:p>
          <a:p>
            <a:r>
              <a:rPr lang="en-US" sz="2000" dirty="0"/>
              <a:t>We are using CD effect sizes, so these ought to predict UC to whatever extent UC and CD share allelic effect, i.e. UC PRS ought to be bigger than Control, but less than CD.</a:t>
            </a:r>
          </a:p>
          <a:p>
            <a:r>
              <a:rPr lang="en-US" sz="2000" dirty="0"/>
              <a:t>CD is highly significantly different from controls, UC less so, but sample size is a factor.</a:t>
            </a:r>
          </a:p>
        </p:txBody>
      </p:sp>
      <p:pic>
        <p:nvPicPr>
          <p:cNvPr id="8" name="Picture 7">
            <a:extLst>
              <a:ext uri="{FF2B5EF4-FFF2-40B4-BE49-F238E27FC236}">
                <a16:creationId xmlns:a16="http://schemas.microsoft.com/office/drawing/2014/main" id="{5FEACA33-A570-F6EB-2ECD-D0F15FFFB97F}"/>
              </a:ext>
            </a:extLst>
          </p:cNvPr>
          <p:cNvPicPr>
            <a:picLocks noChangeAspect="1"/>
          </p:cNvPicPr>
          <p:nvPr/>
        </p:nvPicPr>
        <p:blipFill>
          <a:blip r:embed="rId2"/>
          <a:stretch>
            <a:fillRect/>
          </a:stretch>
        </p:blipFill>
        <p:spPr>
          <a:xfrm>
            <a:off x="681873" y="855771"/>
            <a:ext cx="11000069" cy="3088908"/>
          </a:xfrm>
          <a:prstGeom prst="rect">
            <a:avLst/>
          </a:prstGeom>
        </p:spPr>
      </p:pic>
    </p:spTree>
    <p:extLst>
      <p:ext uri="{BB962C8B-B14F-4D97-AF65-F5344CB8AC3E}">
        <p14:creationId xmlns:p14="http://schemas.microsoft.com/office/powerpoint/2010/main" val="3865020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9844A-119A-7CE4-7A04-9CDF78DEE958}"/>
              </a:ext>
            </a:extLst>
          </p:cNvPr>
          <p:cNvSpPr>
            <a:spLocks noGrp="1"/>
          </p:cNvSpPr>
          <p:nvPr>
            <p:ph idx="1"/>
          </p:nvPr>
        </p:nvSpPr>
        <p:spPr/>
        <p:txBody>
          <a:bodyPr/>
          <a:lstStyle/>
          <a:p>
            <a:r>
              <a:rPr lang="en-US" sz="2400" dirty="0"/>
              <a:t>When you add more SNPs with less significant p-values, the PRS ought to get “better” by whatever extent you are including more “true” positives.</a:t>
            </a:r>
          </a:p>
          <a:p>
            <a:r>
              <a:rPr lang="en-US" sz="2400" dirty="0"/>
              <a:t>But it also gets “noisier” as more false positive SNPs are included, and true positive effects are less accurately estimated.  </a:t>
            </a:r>
          </a:p>
          <a:p>
            <a:r>
              <a:rPr lang="en-US" sz="2400" dirty="0"/>
              <a:t>As long as the noise is unbiased, as we add more false positive SNPs the average PRS scores probably shouldn’t change much, but the variance should and therefore the significance of the difference between cases and controls might go down.</a:t>
            </a:r>
          </a:p>
        </p:txBody>
      </p:sp>
      <p:sp>
        <p:nvSpPr>
          <p:cNvPr id="5" name="Title 4">
            <a:extLst>
              <a:ext uri="{FF2B5EF4-FFF2-40B4-BE49-F238E27FC236}">
                <a16:creationId xmlns:a16="http://schemas.microsoft.com/office/drawing/2014/main" id="{7906B24A-6042-130A-DB06-6A2B0EE9DB44}"/>
              </a:ext>
            </a:extLst>
          </p:cNvPr>
          <p:cNvSpPr>
            <a:spLocks noGrp="1"/>
          </p:cNvSpPr>
          <p:nvPr>
            <p:ph type="title"/>
          </p:nvPr>
        </p:nvSpPr>
        <p:spPr>
          <a:xfrm>
            <a:off x="508590" y="205636"/>
            <a:ext cx="10515600" cy="1325563"/>
          </a:xfrm>
        </p:spPr>
        <p:txBody>
          <a:bodyPr/>
          <a:lstStyle/>
          <a:p>
            <a:r>
              <a:rPr lang="en-US" dirty="0"/>
              <a:t>Adding more SNPs with less significant p-values</a:t>
            </a:r>
          </a:p>
        </p:txBody>
      </p:sp>
    </p:spTree>
    <p:extLst>
      <p:ext uri="{BB962C8B-B14F-4D97-AF65-F5344CB8AC3E}">
        <p14:creationId xmlns:p14="http://schemas.microsoft.com/office/powerpoint/2010/main" val="3027475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1D1D-6F6F-17A4-0315-FD44B58E2D1E}"/>
              </a:ext>
            </a:extLst>
          </p:cNvPr>
          <p:cNvSpPr>
            <a:spLocks noGrp="1"/>
          </p:cNvSpPr>
          <p:nvPr>
            <p:ph type="title"/>
          </p:nvPr>
        </p:nvSpPr>
        <p:spPr>
          <a:xfrm>
            <a:off x="381000" y="0"/>
            <a:ext cx="10515600" cy="1325563"/>
          </a:xfrm>
        </p:spPr>
        <p:txBody>
          <a:bodyPr/>
          <a:lstStyle/>
          <a:p>
            <a:r>
              <a:rPr lang="en-US" dirty="0"/>
              <a:t>Controlling for “winner’s curse”</a:t>
            </a:r>
          </a:p>
        </p:txBody>
      </p:sp>
      <p:sp>
        <p:nvSpPr>
          <p:cNvPr id="3" name="Content Placeholder 2">
            <a:extLst>
              <a:ext uri="{FF2B5EF4-FFF2-40B4-BE49-F238E27FC236}">
                <a16:creationId xmlns:a16="http://schemas.microsoft.com/office/drawing/2014/main" id="{B33FBE0F-8E0C-8716-5027-A0A775F9C790}"/>
              </a:ext>
            </a:extLst>
          </p:cNvPr>
          <p:cNvSpPr>
            <a:spLocks noGrp="1"/>
          </p:cNvSpPr>
          <p:nvPr>
            <p:ph idx="1"/>
          </p:nvPr>
        </p:nvSpPr>
        <p:spPr>
          <a:xfrm>
            <a:off x="838200" y="1464117"/>
            <a:ext cx="11123428" cy="5149333"/>
          </a:xfrm>
        </p:spPr>
        <p:txBody>
          <a:bodyPr/>
          <a:lstStyle/>
          <a:p>
            <a:r>
              <a:rPr lang="en-US" sz="2400" dirty="0"/>
              <a:t>Fundamentally all effect sizes are inflated by a “winner’s curse.”  </a:t>
            </a:r>
          </a:p>
          <a:p>
            <a:r>
              <a:rPr lang="en-US" sz="2400" dirty="0"/>
              <a:t>True positive beta’s are slightly inflated.   </a:t>
            </a:r>
          </a:p>
          <a:p>
            <a:r>
              <a:rPr lang="en-US" sz="2400" dirty="0"/>
              <a:t>False positive SNPs have greatly inflated effect sizes (it should be zero).</a:t>
            </a:r>
          </a:p>
          <a:p>
            <a:r>
              <a:rPr lang="en-US" sz="2400" dirty="0"/>
              <a:t>Therefore we should be “shrinking” all the effect size estimates by a measure of this “winner’s curse”</a:t>
            </a:r>
          </a:p>
          <a:p>
            <a:r>
              <a:rPr lang="en-US" sz="2400" dirty="0"/>
              <a:t>Here we are using an empirical Bayes estimate of the false-positive probability, and shrinking beta’s accordingly.  </a:t>
            </a:r>
          </a:p>
          <a:p>
            <a:r>
              <a:rPr lang="en-US" sz="2400" dirty="0"/>
              <a:t>This has virtually no impact on genome-wide significant loci, but if it is working as intended should help account for including “false positive” loci as we drop the p-value threshold for inclusion.</a:t>
            </a:r>
          </a:p>
          <a:p>
            <a:endParaRPr lang="en-US" dirty="0"/>
          </a:p>
        </p:txBody>
      </p:sp>
    </p:spTree>
    <p:extLst>
      <p:ext uri="{BB962C8B-B14F-4D97-AF65-F5344CB8AC3E}">
        <p14:creationId xmlns:p14="http://schemas.microsoft.com/office/powerpoint/2010/main" val="1822899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B61A-F5FE-88D0-5487-3C6AB2F9D05D}"/>
              </a:ext>
            </a:extLst>
          </p:cNvPr>
          <p:cNvSpPr>
            <a:spLocks noGrp="1"/>
          </p:cNvSpPr>
          <p:nvPr>
            <p:ph type="title"/>
          </p:nvPr>
        </p:nvSpPr>
        <p:spPr>
          <a:xfrm>
            <a:off x="279104" y="264489"/>
            <a:ext cx="10515600" cy="1325563"/>
          </a:xfrm>
        </p:spPr>
        <p:txBody>
          <a:bodyPr/>
          <a:lstStyle/>
          <a:p>
            <a:r>
              <a:rPr lang="en-US" dirty="0"/>
              <a:t>Portability of PRS</a:t>
            </a:r>
          </a:p>
        </p:txBody>
      </p:sp>
      <p:sp>
        <p:nvSpPr>
          <p:cNvPr id="3" name="Content Placeholder 2">
            <a:extLst>
              <a:ext uri="{FF2B5EF4-FFF2-40B4-BE49-F238E27FC236}">
                <a16:creationId xmlns:a16="http://schemas.microsoft.com/office/drawing/2014/main" id="{9D1F87D3-878D-D42A-1088-F75D01ED0C22}"/>
              </a:ext>
            </a:extLst>
          </p:cNvPr>
          <p:cNvSpPr>
            <a:spLocks noGrp="1"/>
          </p:cNvSpPr>
          <p:nvPr>
            <p:ph idx="1"/>
          </p:nvPr>
        </p:nvSpPr>
        <p:spPr>
          <a:xfrm>
            <a:off x="176766" y="4067173"/>
            <a:ext cx="11838467" cy="2680902"/>
          </a:xfrm>
        </p:spPr>
        <p:txBody>
          <a:bodyPr>
            <a:noAutofit/>
          </a:bodyPr>
          <a:lstStyle/>
          <a:p>
            <a:r>
              <a:rPr lang="en-US" sz="2400" dirty="0"/>
              <a:t>As we add more SNPs the difference between cases and controls appears to grow, but only slightly in the well powered subset (AFR)</a:t>
            </a:r>
          </a:p>
          <a:p>
            <a:r>
              <a:rPr lang="en-US" sz="2400" dirty="0"/>
              <a:t>Other ancestries bounce around more, but also have much smaller sample sizes</a:t>
            </a:r>
          </a:p>
          <a:p>
            <a:r>
              <a:rPr lang="en-US" sz="2400" dirty="0"/>
              <a:t>Samples with inferred European ancestry appear substantially inflated in both cases and controls at p&lt;0.001 SNP inclusion.   Might be small sample size or  worse ancestry inference in this subset, or something more complex (LD?).</a:t>
            </a:r>
          </a:p>
        </p:txBody>
      </p:sp>
      <p:pic>
        <p:nvPicPr>
          <p:cNvPr id="6" name="Picture 5">
            <a:extLst>
              <a:ext uri="{FF2B5EF4-FFF2-40B4-BE49-F238E27FC236}">
                <a16:creationId xmlns:a16="http://schemas.microsoft.com/office/drawing/2014/main" id="{B57BBEC1-5E52-FEE0-BA51-AE7D7B06B24C}"/>
              </a:ext>
            </a:extLst>
          </p:cNvPr>
          <p:cNvPicPr>
            <a:picLocks noChangeAspect="1"/>
          </p:cNvPicPr>
          <p:nvPr/>
        </p:nvPicPr>
        <p:blipFill>
          <a:blip r:embed="rId2"/>
          <a:stretch>
            <a:fillRect/>
          </a:stretch>
        </p:blipFill>
        <p:spPr>
          <a:xfrm>
            <a:off x="581109" y="927271"/>
            <a:ext cx="10969129" cy="2940394"/>
          </a:xfrm>
          <a:prstGeom prst="rect">
            <a:avLst/>
          </a:prstGeom>
        </p:spPr>
      </p:pic>
    </p:spTree>
    <p:extLst>
      <p:ext uri="{BB962C8B-B14F-4D97-AF65-F5344CB8AC3E}">
        <p14:creationId xmlns:p14="http://schemas.microsoft.com/office/powerpoint/2010/main" val="1516384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00BE-5C45-72EF-3A67-B9549A261FA6}"/>
              </a:ext>
            </a:extLst>
          </p:cNvPr>
          <p:cNvSpPr>
            <a:spLocks noGrp="1"/>
          </p:cNvSpPr>
          <p:nvPr>
            <p:ph type="title"/>
          </p:nvPr>
        </p:nvSpPr>
        <p:spPr>
          <a:xfrm>
            <a:off x="170935" y="142703"/>
            <a:ext cx="11535512" cy="1325563"/>
          </a:xfrm>
        </p:spPr>
        <p:txBody>
          <a:bodyPr>
            <a:normAutofit/>
          </a:bodyPr>
          <a:lstStyle/>
          <a:p>
            <a:r>
              <a:rPr lang="en-US" dirty="0"/>
              <a:t>The OR scale is inherently noisier than the PRS scale as OR is a non-linear transformation.</a:t>
            </a:r>
          </a:p>
        </p:txBody>
      </p:sp>
      <p:pic>
        <p:nvPicPr>
          <p:cNvPr id="6" name="Picture 5">
            <a:extLst>
              <a:ext uri="{FF2B5EF4-FFF2-40B4-BE49-F238E27FC236}">
                <a16:creationId xmlns:a16="http://schemas.microsoft.com/office/drawing/2014/main" id="{68C31748-0D6A-A047-CF27-9B4DD1B8FA38}"/>
              </a:ext>
            </a:extLst>
          </p:cNvPr>
          <p:cNvPicPr>
            <a:picLocks noChangeAspect="1"/>
          </p:cNvPicPr>
          <p:nvPr/>
        </p:nvPicPr>
        <p:blipFill>
          <a:blip r:embed="rId2"/>
          <a:stretch>
            <a:fillRect/>
          </a:stretch>
        </p:blipFill>
        <p:spPr>
          <a:xfrm>
            <a:off x="681357" y="1447963"/>
            <a:ext cx="10829286" cy="2312902"/>
          </a:xfrm>
          <a:prstGeom prst="rect">
            <a:avLst/>
          </a:prstGeom>
        </p:spPr>
      </p:pic>
      <p:sp>
        <p:nvSpPr>
          <p:cNvPr id="9" name="TextBox 8">
            <a:extLst>
              <a:ext uri="{FF2B5EF4-FFF2-40B4-BE49-F238E27FC236}">
                <a16:creationId xmlns:a16="http://schemas.microsoft.com/office/drawing/2014/main" id="{1F527AE9-2830-0E65-A431-9A4687F7A1C9}"/>
              </a:ext>
            </a:extLst>
          </p:cNvPr>
          <p:cNvSpPr txBox="1"/>
          <p:nvPr/>
        </p:nvSpPr>
        <p:spPr>
          <a:xfrm>
            <a:off x="263084" y="4086564"/>
            <a:ext cx="11928916" cy="2554545"/>
          </a:xfrm>
          <a:prstGeom prst="rect">
            <a:avLst/>
          </a:prstGeom>
          <a:noFill/>
        </p:spPr>
        <p:txBody>
          <a:bodyPr wrap="square">
            <a:spAutoFit/>
          </a:bodyPr>
          <a:lstStyle/>
          <a:p>
            <a:pPr marL="285750" indent="-285750">
              <a:buFont typeface="Arial" panose="020B0604020202020204" pitchFamily="34" charset="0"/>
              <a:buChar char="•"/>
            </a:pPr>
            <a:r>
              <a:rPr lang="en-US" sz="2000" dirty="0">
                <a:solidFill>
                  <a:schemeClr val="bg2"/>
                </a:solidFill>
              </a:rPr>
              <a:t>OR is very asymmetrical, values bigger than 1 can get large, but are bounded below by 0.</a:t>
            </a:r>
          </a:p>
          <a:p>
            <a:pPr marL="285750" indent="-285750">
              <a:buFont typeface="Arial" panose="020B0604020202020204" pitchFamily="34" charset="0"/>
              <a:buChar char="•"/>
            </a:pPr>
            <a:r>
              <a:rPr lang="en-US" sz="2000" dirty="0">
                <a:solidFill>
                  <a:schemeClr val="bg2"/>
                </a:solidFill>
              </a:rPr>
              <a:t>So, mean is not necessarily a good measure of central tendency as it can be influenced by a few huge OR values.</a:t>
            </a:r>
          </a:p>
          <a:p>
            <a:pPr marL="285750" indent="-285750">
              <a:buFont typeface="Arial" panose="020B0604020202020204" pitchFamily="34" charset="0"/>
              <a:buChar char="•"/>
            </a:pPr>
            <a:r>
              <a:rPr lang="en-US" sz="2000" dirty="0">
                <a:solidFill>
                  <a:schemeClr val="bg2"/>
                </a:solidFill>
              </a:rPr>
              <a:t>Nevertheless, the results seem completely consistent with the PRS results.   Average OR for controls largely less than 1.   </a:t>
            </a:r>
          </a:p>
          <a:p>
            <a:pPr marL="285750" indent="-285750">
              <a:buFont typeface="Arial" panose="020B0604020202020204" pitchFamily="34" charset="0"/>
              <a:buChar char="•"/>
            </a:pPr>
            <a:r>
              <a:rPr lang="en-US" sz="2000" dirty="0">
                <a:solidFill>
                  <a:schemeClr val="bg2"/>
                </a:solidFill>
              </a:rPr>
              <a:t>Average OR bigger than 1 for CD cases, and in between for UC as we are using CD effect sizes.</a:t>
            </a:r>
          </a:p>
          <a:p>
            <a:pPr marL="285750" indent="-285750">
              <a:buFont typeface="Arial" panose="020B0604020202020204" pitchFamily="34" charset="0"/>
              <a:buChar char="•"/>
            </a:pPr>
            <a:r>
              <a:rPr lang="en-US" sz="2000" dirty="0">
                <a:solidFill>
                  <a:schemeClr val="bg2"/>
                </a:solidFill>
              </a:rPr>
              <a:t>Variation looks driven by sample size, and perhaps a somewhat different accuracies of ancestry inference.</a:t>
            </a:r>
          </a:p>
        </p:txBody>
      </p:sp>
    </p:spTree>
    <p:extLst>
      <p:ext uri="{BB962C8B-B14F-4D97-AF65-F5344CB8AC3E}">
        <p14:creationId xmlns:p14="http://schemas.microsoft.com/office/powerpoint/2010/main" val="3146813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61BF-070D-84E0-93E9-0935CD7DF874}"/>
              </a:ext>
            </a:extLst>
          </p:cNvPr>
          <p:cNvSpPr>
            <a:spLocks noGrp="1"/>
          </p:cNvSpPr>
          <p:nvPr>
            <p:ph type="title"/>
          </p:nvPr>
        </p:nvSpPr>
        <p:spPr>
          <a:xfrm>
            <a:off x="487326" y="141842"/>
            <a:ext cx="10515600" cy="1325563"/>
          </a:xfrm>
        </p:spPr>
        <p:txBody>
          <a:bodyPr/>
          <a:lstStyle/>
          <a:p>
            <a:r>
              <a:rPr lang="en-US" dirty="0"/>
              <a:t>Median OR better measure of central tendency </a:t>
            </a:r>
          </a:p>
        </p:txBody>
      </p:sp>
      <p:sp>
        <p:nvSpPr>
          <p:cNvPr id="5" name="Content Placeholder 4">
            <a:extLst>
              <a:ext uri="{FF2B5EF4-FFF2-40B4-BE49-F238E27FC236}">
                <a16:creationId xmlns:a16="http://schemas.microsoft.com/office/drawing/2014/main" id="{38CB97C9-737A-EFB4-F9AE-C11CFF8FFEFE}"/>
              </a:ext>
            </a:extLst>
          </p:cNvPr>
          <p:cNvSpPr>
            <a:spLocks noGrp="1"/>
          </p:cNvSpPr>
          <p:nvPr>
            <p:ph idx="1"/>
          </p:nvPr>
        </p:nvSpPr>
        <p:spPr>
          <a:xfrm>
            <a:off x="487326" y="1467404"/>
            <a:ext cx="4134101" cy="5248753"/>
          </a:xfrm>
        </p:spPr>
        <p:txBody>
          <a:bodyPr/>
          <a:lstStyle/>
          <a:p>
            <a:r>
              <a:rPr lang="en-US" sz="2400" dirty="0"/>
              <a:t>P&lt; 0.00001 inclusion of SNPs</a:t>
            </a:r>
          </a:p>
          <a:p>
            <a:r>
              <a:rPr lang="en-US" sz="2400" dirty="0"/>
              <a:t>Best powered African ancestry shown</a:t>
            </a:r>
          </a:p>
          <a:p>
            <a:r>
              <a:rPr lang="en-US" sz="2400" dirty="0"/>
              <a:t>Notice the median for CD is bigger than 1.</a:t>
            </a:r>
          </a:p>
          <a:p>
            <a:r>
              <a:rPr lang="en-US" sz="2400" dirty="0"/>
              <a:t>Some what less than 1 for UC.</a:t>
            </a:r>
          </a:p>
          <a:p>
            <a:r>
              <a:rPr lang="en-US" sz="2400" dirty="0"/>
              <a:t>Even lower controls.</a:t>
            </a:r>
          </a:p>
          <a:p>
            <a:r>
              <a:rPr lang="en-US" sz="2400" dirty="0"/>
              <a:t>But there are long tails.</a:t>
            </a:r>
          </a:p>
        </p:txBody>
      </p:sp>
      <p:pic>
        <p:nvPicPr>
          <p:cNvPr id="6" name="Picture 5">
            <a:extLst>
              <a:ext uri="{FF2B5EF4-FFF2-40B4-BE49-F238E27FC236}">
                <a16:creationId xmlns:a16="http://schemas.microsoft.com/office/drawing/2014/main" id="{1A1D6CBF-4E73-DB97-B857-1A1503AE326D}"/>
              </a:ext>
            </a:extLst>
          </p:cNvPr>
          <p:cNvPicPr>
            <a:picLocks noChangeAspect="1"/>
          </p:cNvPicPr>
          <p:nvPr/>
        </p:nvPicPr>
        <p:blipFill>
          <a:blip r:embed="rId2"/>
          <a:stretch>
            <a:fillRect/>
          </a:stretch>
        </p:blipFill>
        <p:spPr>
          <a:xfrm>
            <a:off x="4915929" y="1467405"/>
            <a:ext cx="6995984" cy="4794661"/>
          </a:xfrm>
          <a:prstGeom prst="rect">
            <a:avLst/>
          </a:prstGeom>
        </p:spPr>
      </p:pic>
    </p:spTree>
    <p:extLst>
      <p:ext uri="{BB962C8B-B14F-4D97-AF65-F5344CB8AC3E}">
        <p14:creationId xmlns:p14="http://schemas.microsoft.com/office/powerpoint/2010/main" val="3816530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62939-9844-DD4B-D045-5D4627E40546}"/>
              </a:ext>
            </a:extLst>
          </p:cNvPr>
          <p:cNvSpPr>
            <a:spLocks noGrp="1"/>
          </p:cNvSpPr>
          <p:nvPr>
            <p:ph type="title"/>
          </p:nvPr>
        </p:nvSpPr>
        <p:spPr>
          <a:xfrm>
            <a:off x="349102" y="280065"/>
            <a:ext cx="10515600" cy="1325563"/>
          </a:xfrm>
        </p:spPr>
        <p:txBody>
          <a:bodyPr/>
          <a:lstStyle/>
          <a:p>
            <a:r>
              <a:rPr lang="en-US" dirty="0"/>
              <a:t>Everything looks very consistent across platforms</a:t>
            </a:r>
          </a:p>
        </p:txBody>
      </p:sp>
      <p:sp>
        <p:nvSpPr>
          <p:cNvPr id="3" name="Content Placeholder 2">
            <a:extLst>
              <a:ext uri="{FF2B5EF4-FFF2-40B4-BE49-F238E27FC236}">
                <a16:creationId xmlns:a16="http://schemas.microsoft.com/office/drawing/2014/main" id="{A3C7CA4B-3720-12CA-6749-E9D66FB4296F}"/>
              </a:ext>
            </a:extLst>
          </p:cNvPr>
          <p:cNvSpPr>
            <a:spLocks noGrp="1"/>
          </p:cNvSpPr>
          <p:nvPr>
            <p:ph idx="1"/>
          </p:nvPr>
        </p:nvSpPr>
        <p:spPr/>
        <p:txBody>
          <a:bodyPr/>
          <a:lstStyle/>
          <a:p>
            <a:r>
              <a:rPr lang="en-US" sz="2400" dirty="0"/>
              <a:t>It certainly appears the </a:t>
            </a:r>
            <a:r>
              <a:rPr lang="en-US" sz="2400" dirty="0" err="1"/>
              <a:t>bge</a:t>
            </a:r>
            <a:r>
              <a:rPr lang="en-US" sz="2400" dirty="0"/>
              <a:t> and </a:t>
            </a:r>
            <a:r>
              <a:rPr lang="en-US" sz="2400" dirty="0" err="1"/>
              <a:t>wgs</a:t>
            </a:r>
            <a:r>
              <a:rPr lang="en-US" sz="2400" dirty="0"/>
              <a:t> datasets are behaving exceptionally consistently with one another.</a:t>
            </a:r>
          </a:p>
          <a:p>
            <a:r>
              <a:rPr lang="en-US" sz="2400" dirty="0"/>
              <a:t>So, let’s do the mega-analysis on this uncleaned data.</a:t>
            </a:r>
          </a:p>
          <a:p>
            <a:r>
              <a:rPr lang="en-US" sz="2400" dirty="0"/>
              <a:t>Here we are grouping all the AFR / AMR / and </a:t>
            </a:r>
            <a:r>
              <a:rPr lang="en-US" sz="2400" dirty="0" err="1"/>
              <a:t>Eur</a:t>
            </a:r>
            <a:r>
              <a:rPr lang="en-US" sz="2400" dirty="0"/>
              <a:t> samples together regardless of platform.</a:t>
            </a:r>
          </a:p>
          <a:p>
            <a:r>
              <a:rPr lang="en-US" sz="2400" dirty="0"/>
              <a:t>I show p &lt; 0.001 SNP selection.  Others are similar </a:t>
            </a:r>
          </a:p>
          <a:p>
            <a:r>
              <a:rPr lang="en-US" sz="2400" dirty="0"/>
              <a:t>For all the follows, Case is CD, Control is Control.   UC dropped.</a:t>
            </a:r>
          </a:p>
        </p:txBody>
      </p:sp>
    </p:spTree>
    <p:extLst>
      <p:ext uri="{BB962C8B-B14F-4D97-AF65-F5344CB8AC3E}">
        <p14:creationId xmlns:p14="http://schemas.microsoft.com/office/powerpoint/2010/main" val="3357546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8B6F7-4116-F8B6-3B67-B79CA768B097}"/>
              </a:ext>
            </a:extLst>
          </p:cNvPr>
          <p:cNvSpPr>
            <a:spLocks noGrp="1"/>
          </p:cNvSpPr>
          <p:nvPr>
            <p:ph type="title"/>
          </p:nvPr>
        </p:nvSpPr>
        <p:spPr>
          <a:xfrm>
            <a:off x="838199" y="365126"/>
            <a:ext cx="10719391" cy="644968"/>
          </a:xfrm>
        </p:spPr>
        <p:txBody>
          <a:bodyPr>
            <a:normAutofit/>
          </a:bodyPr>
          <a:lstStyle/>
          <a:p>
            <a:r>
              <a:rPr lang="en-US" dirty="0"/>
              <a:t>P &lt; 0.001</a:t>
            </a:r>
          </a:p>
        </p:txBody>
      </p:sp>
      <p:pic>
        <p:nvPicPr>
          <p:cNvPr id="3076" name="Picture 4" descr="image_3">
            <a:extLst>
              <a:ext uri="{FF2B5EF4-FFF2-40B4-BE49-F238E27FC236}">
                <a16:creationId xmlns:a16="http://schemas.microsoft.com/office/drawing/2014/main" id="{541787BA-C4E8-24FC-6C93-9400EE9CA1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2265" y="989025"/>
            <a:ext cx="8417009" cy="5794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802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_2">
            <a:extLst>
              <a:ext uri="{FF2B5EF4-FFF2-40B4-BE49-F238E27FC236}">
                <a16:creationId xmlns:a16="http://schemas.microsoft.com/office/drawing/2014/main" id="{39B1C8BB-033C-B00E-9453-F8F6746BE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708" y="196834"/>
            <a:ext cx="9729417" cy="6464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41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_1">
            <a:extLst>
              <a:ext uri="{FF2B5EF4-FFF2-40B4-BE49-F238E27FC236}">
                <a16:creationId xmlns:a16="http://schemas.microsoft.com/office/drawing/2014/main" id="{B9BAEC19-D2C2-5AB5-50EF-90E882C68D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468" y="142201"/>
            <a:ext cx="8074504" cy="6715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377145"/>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580</TotalTime>
  <Words>1871</Words>
  <Application>Microsoft Macintosh PowerPoint</Application>
  <PresentationFormat>Widescreen</PresentationFormat>
  <Paragraphs>268</Paragraphs>
  <Slides>32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Arial</vt:lpstr>
      <vt:lpstr>Arvo</vt:lpstr>
      <vt:lpstr>Lato</vt:lpstr>
      <vt:lpstr>Lato Black</vt:lpstr>
      <vt:lpstr>Menlo</vt:lpstr>
      <vt:lpstr>Raleway</vt:lpstr>
      <vt:lpstr>Streamline</vt:lpstr>
      <vt:lpstr>cBGE and WGS Merged  QC Summary Statistics and  Polygenic Risk Score</vt:lpstr>
      <vt:lpstr>PowerPoint Presentation</vt:lpstr>
      <vt:lpstr>What exactly was wrong two weeks ago?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Merger appears correct from a technical standpoint</vt:lpstr>
      <vt:lpstr>Polygenic Risk Scores are far more portable between populations than you likely believe</vt:lpstr>
      <vt:lpstr>The way most people construct a PRS (i.e. the way the Broad has taught us to do it)</vt:lpstr>
      <vt:lpstr>PRS constructed in this fashion is notoriously “unportable” between study populations</vt:lpstr>
      <vt:lpstr>Convert effects from the OR scale to the liability scale</vt:lpstr>
      <vt:lpstr>To apply a PRS to a new individual, j</vt:lpstr>
      <vt:lpstr>The annoying bit, solved by bystro</vt:lpstr>
      <vt:lpstr>PRS constructed in this fashion is portable and ought to work well in just about anyone</vt:lpstr>
      <vt:lpstr>Applying Liu 2015 to the merged mega dataset</vt:lpstr>
      <vt:lpstr>Everything looks good</vt:lpstr>
      <vt:lpstr>Adding more SNPs with less significant p-values</vt:lpstr>
      <vt:lpstr>Controlling for “winner’s curse”</vt:lpstr>
      <vt:lpstr>Portability of PRS</vt:lpstr>
      <vt:lpstr>The OR scale is inherently noisier than the PRS scale as OR is a non-linear transformation.</vt:lpstr>
      <vt:lpstr>Median OR better measure of central tendency </vt:lpstr>
      <vt:lpstr>Everything looks very consistent across platforms</vt:lpstr>
      <vt:lpstr>P &lt; 0.001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Pelia, Ranjit</dc:creator>
  <cp:lastModifiedBy>Cutler, David J</cp:lastModifiedBy>
  <cp:revision>22</cp:revision>
  <dcterms:created xsi:type="dcterms:W3CDTF">2025-03-21T16:47:21Z</dcterms:created>
  <dcterms:modified xsi:type="dcterms:W3CDTF">2025-04-15T16:58:05Z</dcterms:modified>
</cp:coreProperties>
</file>